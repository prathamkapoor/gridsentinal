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Upper 90%</c:v>
                </c:pt>
              </c:strCache>
            </c:strRef>
          </c:tx>
          <c:spPr>
            <a:solidFill>
              <a:srgbClr val="C9D4DC"/>
            </a:solidFill>
            <a:ln w="19050" cap="flat">
              <a:solidFill>
                <a:srgbClr val="C9D4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D4DC"/>
              </a:solidFill>
              <a:ln w="9525" cap="flat">
                <a:solidFill>
                  <a:srgbClr val="C9D4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06:00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14:00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22:00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06:00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14:00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22:00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0.7029</c:v>
                </c:pt>
                <c:pt idx="1">
                  <c:v>0.9814</c:v>
                </c:pt>
                <c:pt idx="2">
                  <c:v>0.9828</c:v>
                </c:pt>
                <c:pt idx="3">
                  <c:v>1.0544</c:v>
                </c:pt>
                <c:pt idx="4">
                  <c:v>1.5693</c:v>
                </c:pt>
                <c:pt idx="5">
                  <c:v>2.1637</c:v>
                </c:pt>
                <c:pt idx="6">
                  <c:v>2.1704</c:v>
                </c:pt>
                <c:pt idx="7">
                  <c:v>1.8755</c:v>
                </c:pt>
                <c:pt idx="8">
                  <c:v>2.0517</c:v>
                </c:pt>
                <c:pt idx="9">
                  <c:v>2.5147</c:v>
                </c:pt>
                <c:pt idx="10">
                  <c:v>1.5177</c:v>
                </c:pt>
                <c:pt idx="11">
                  <c:v>1.1123</c:v>
                </c:pt>
                <c:pt idx="12">
                  <c:v>0.9067</c:v>
                </c:pt>
                <c:pt idx="13">
                  <c:v>1.5138</c:v>
                </c:pt>
                <c:pt idx="14">
                  <c:v>1.1192</c:v>
                </c:pt>
                <c:pt idx="15">
                  <c:v>1.5137</c:v>
                </c:pt>
                <c:pt idx="16">
                  <c:v>1.4275</c:v>
                </c:pt>
                <c:pt idx="17">
                  <c:v>0.4674</c:v>
                </c:pt>
                <c:pt idx="18">
                  <c:v>0.6682</c:v>
                </c:pt>
                <c:pt idx="19">
                  <c:v>0.3653</c:v>
                </c:pt>
                <c:pt idx="20">
                  <c:v>0.4552</c:v>
                </c:pt>
                <c:pt idx="21">
                  <c:v>0.5722</c:v>
                </c:pt>
                <c:pt idx="22">
                  <c:v>0.6102</c:v>
                </c:pt>
                <c:pt idx="23">
                  <c:v>0.7882</c:v>
                </c:pt>
                <c:pt idx="24">
                  <c:v>0.9633</c:v>
                </c:pt>
                <c:pt idx="25">
                  <c:v>0.8765</c:v>
                </c:pt>
                <c:pt idx="26">
                  <c:v>0.958</c:v>
                </c:pt>
                <c:pt idx="27">
                  <c:v>1.3149</c:v>
                </c:pt>
                <c:pt idx="28">
                  <c:v>1.3878</c:v>
                </c:pt>
                <c:pt idx="29">
                  <c:v>2.4394</c:v>
                </c:pt>
                <c:pt idx="30">
                  <c:v>3.5803</c:v>
                </c:pt>
                <c:pt idx="31">
                  <c:v>4</c:v>
                </c:pt>
                <c:pt idx="32">
                  <c:v>5.2218</c:v>
                </c:pt>
                <c:pt idx="33">
                  <c:v>4.4504</c:v>
                </c:pt>
                <c:pt idx="34">
                  <c:v>3.2449</c:v>
                </c:pt>
                <c:pt idx="35">
                  <c:v>3.2552</c:v>
                </c:pt>
                <c:pt idx="36">
                  <c:v>1.534</c:v>
                </c:pt>
                <c:pt idx="37">
                  <c:v>1.4526</c:v>
                </c:pt>
                <c:pt idx="38">
                  <c:v>1.1505</c:v>
                </c:pt>
                <c:pt idx="39">
                  <c:v>0.984</c:v>
                </c:pt>
                <c:pt idx="40">
                  <c:v>1.2661</c:v>
                </c:pt>
                <c:pt idx="41">
                  <c:v>0.7136</c:v>
                </c:pt>
                <c:pt idx="42">
                  <c:v>0.8191</c:v>
                </c:pt>
                <c:pt idx="43">
                  <c:v>0.7053</c:v>
                </c:pt>
                <c:pt idx="44">
                  <c:v>0.7717</c:v>
                </c:pt>
                <c:pt idx="45">
                  <c:v>0.6974</c:v>
                </c:pt>
                <c:pt idx="46">
                  <c:v>0.8039</c:v>
                </c:pt>
                <c:pt idx="47">
                  <c:v>1.1237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Point forecast</c:v>
                </c:pt>
              </c:strCache>
            </c:strRef>
          </c:tx>
          <c:spPr>
            <a:solidFill>
              <a:srgbClr val="3D5A73"/>
            </a:solidFill>
            <a:ln w="19050" cap="flat">
              <a:solidFill>
                <a:srgbClr val="3D5A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5A73"/>
              </a:solidFill>
              <a:ln w="9525" cap="flat">
                <a:solidFill>
                  <a:srgbClr val="3D5A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06:00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14:00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22:00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06:00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14:00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22:00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0.504</c:v>
                </c:pt>
                <c:pt idx="1">
                  <c:v>0.5723</c:v>
                </c:pt>
                <c:pt idx="2">
                  <c:v>0.5629</c:v>
                </c:pt>
                <c:pt idx="3">
                  <c:v>0.3617</c:v>
                </c:pt>
                <c:pt idx="4">
                  <c:v>0.3646</c:v>
                </c:pt>
                <c:pt idx="5">
                  <c:v>0.3267</c:v>
                </c:pt>
                <c:pt idx="6">
                  <c:v>0.3201</c:v>
                </c:pt>
                <c:pt idx="7">
                  <c:v>0.4573</c:v>
                </c:pt>
                <c:pt idx="8">
                  <c:v>0.9085</c:v>
                </c:pt>
                <c:pt idx="9">
                  <c:v>1.2464</c:v>
                </c:pt>
                <c:pt idx="10">
                  <c:v>0.8861</c:v>
                </c:pt>
                <c:pt idx="11">
                  <c:v>0.6988</c:v>
                </c:pt>
                <c:pt idx="12">
                  <c:v>0.4884</c:v>
                </c:pt>
                <c:pt idx="13">
                  <c:v>0.7509</c:v>
                </c:pt>
                <c:pt idx="14">
                  <c:v>0.6722</c:v>
                </c:pt>
                <c:pt idx="15">
                  <c:v>1.0606</c:v>
                </c:pt>
                <c:pt idx="16">
                  <c:v>0.9682</c:v>
                </c:pt>
                <c:pt idx="17">
                  <c:v>0.2719</c:v>
                </c:pt>
                <c:pt idx="18">
                  <c:v>0.2802</c:v>
                </c:pt>
                <c:pt idx="19">
                  <c:v>0.2779</c:v>
                </c:pt>
                <c:pt idx="20">
                  <c:v>0.3255</c:v>
                </c:pt>
                <c:pt idx="21">
                  <c:v>0.3556</c:v>
                </c:pt>
                <c:pt idx="22">
                  <c:v>0.3737</c:v>
                </c:pt>
                <c:pt idx="23">
                  <c:v>0.3622</c:v>
                </c:pt>
                <c:pt idx="24">
                  <c:v>0.4057</c:v>
                </c:pt>
                <c:pt idx="25">
                  <c:v>0.4118</c:v>
                </c:pt>
                <c:pt idx="26">
                  <c:v>0.3645</c:v>
                </c:pt>
                <c:pt idx="27">
                  <c:v>0.5313</c:v>
                </c:pt>
                <c:pt idx="28">
                  <c:v>0.5077</c:v>
                </c:pt>
                <c:pt idx="29">
                  <c:v>1.0045</c:v>
                </c:pt>
                <c:pt idx="30">
                  <c:v>1.5232</c:v>
                </c:pt>
                <c:pt idx="31">
                  <c:v>1.8647</c:v>
                </c:pt>
                <c:pt idx="32">
                  <c:v>2.4343</c:v>
                </c:pt>
                <c:pt idx="33">
                  <c:v>2.403</c:v>
                </c:pt>
                <c:pt idx="34">
                  <c:v>2.0706</c:v>
                </c:pt>
                <c:pt idx="35">
                  <c:v>1.9089</c:v>
                </c:pt>
                <c:pt idx="36">
                  <c:v>0.7882</c:v>
                </c:pt>
                <c:pt idx="37">
                  <c:v>0.8289</c:v>
                </c:pt>
                <c:pt idx="38">
                  <c:v>0.7814</c:v>
                </c:pt>
                <c:pt idx="39">
                  <c:v>0.6851</c:v>
                </c:pt>
                <c:pt idx="40">
                  <c:v>0.8349</c:v>
                </c:pt>
                <c:pt idx="41">
                  <c:v>0.3797</c:v>
                </c:pt>
                <c:pt idx="42">
                  <c:v>0.4737</c:v>
                </c:pt>
                <c:pt idx="43">
                  <c:v>0.4284</c:v>
                </c:pt>
                <c:pt idx="44">
                  <c:v>0.511</c:v>
                </c:pt>
                <c:pt idx="45">
                  <c:v>0.4973</c:v>
                </c:pt>
                <c:pt idx="46">
                  <c:v>0.5288</c:v>
                </c:pt>
                <c:pt idx="47">
                  <c:v>0.5531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90%</c:v>
                </c:pt>
              </c:strCache>
            </c:strRef>
          </c:tx>
          <c:spPr>
            <a:solidFill>
              <a:srgbClr val="C9D4DC"/>
            </a:solidFill>
            <a:ln w="19050" cap="flat">
              <a:solidFill>
                <a:srgbClr val="C9D4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D4DC"/>
              </a:solidFill>
              <a:ln w="9525" cap="flat">
                <a:solidFill>
                  <a:srgbClr val="C9D4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06:00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14:00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22:00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06:00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14:00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22:00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</c:lvl>
              </c:multiLvlStrCache>
            </c:multiLvlStrRef>
          </c:cat>
          <c:val>
            <c:numRef>
              <c:f>Sheet1!$D$2:$D$49</c:f>
              <c:numCache>
                <c:formatCode>General</c:formatCode>
                <c:ptCount val="48"/>
                <c:pt idx="0">
                  <c:v>0.305</c:v>
                </c:pt>
                <c:pt idx="1">
                  <c:v>0.1631</c:v>
                </c:pt>
                <c:pt idx="2">
                  <c:v>0.143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0.2545</c:v>
                </c:pt>
                <c:pt idx="11">
                  <c:v>0.2853</c:v>
                </c:pt>
                <c:pt idx="12">
                  <c:v>0.0701</c:v>
                </c:pt>
                <c:pt idx="13">
                  <c:v>0</c:v>
                </c:pt>
                <c:pt idx="14">
                  <c:v>0.2251</c:v>
                </c:pt>
                <c:pt idx="15">
                  <c:v>0.6076</c:v>
                </c:pt>
                <c:pt idx="16">
                  <c:v>0.5089</c:v>
                </c:pt>
                <c:pt idx="17">
                  <c:v>0.0763</c:v>
                </c:pt>
                <c:pt idx="18">
                  <c:v>0</c:v>
                </c:pt>
                <c:pt idx="19">
                  <c:v>0.1905</c:v>
                </c:pt>
                <c:pt idx="20">
                  <c:v>0.1957</c:v>
                </c:pt>
                <c:pt idx="21">
                  <c:v>0.1389</c:v>
                </c:pt>
                <c:pt idx="22">
                  <c:v>0.1372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0.3556</c:v>
                </c:pt>
                <c:pt idx="34">
                  <c:v>0.8962</c:v>
                </c:pt>
                <c:pt idx="35">
                  <c:v>0.5627</c:v>
                </c:pt>
                <c:pt idx="36">
                  <c:v>0.0424</c:v>
                </c:pt>
                <c:pt idx="37">
                  <c:v>0.2052</c:v>
                </c:pt>
                <c:pt idx="38">
                  <c:v>0.4122</c:v>
                </c:pt>
                <c:pt idx="39">
                  <c:v>0.3863</c:v>
                </c:pt>
                <c:pt idx="40">
                  <c:v>0.4036</c:v>
                </c:pt>
                <c:pt idx="41">
                  <c:v>0.0458</c:v>
                </c:pt>
                <c:pt idx="42">
                  <c:v>0.1283</c:v>
                </c:pt>
                <c:pt idx="43">
                  <c:v>0.1514</c:v>
                </c:pt>
                <c:pt idx="44">
                  <c:v>0.2502</c:v>
                </c:pt>
                <c:pt idx="45">
                  <c:v>0.2972</c:v>
                </c:pt>
                <c:pt idx="46">
                  <c:v>0.2537</c:v>
                </c:pt>
                <c:pt idx="47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8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1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kW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8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5F0"/>
        </a:solidFill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at 24 h (kW)</c:v>
                </c:pt>
              </c:strCache>
            </c:strRef>
          </c:tx>
          <c:spPr>
            <a:solidFill>
              <a:srgbClr val="C9D4D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1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4D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D4D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D4D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D4D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6B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4C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Persistence</c:v>
                  </c:pt>
                  <c:pt idx="1">
                    <c:v>Hist-GBM</c:v>
                  </c:pt>
                  <c:pt idx="2">
                    <c:v>Temporal TCN</c:v>
                  </c:pt>
                  <c:pt idx="3">
                    <c:v>Learned router</c:v>
                  </c:pt>
                  <c:pt idx="4">
                    <c:v>Fixed ensemble</c:v>
                  </c:pt>
                  <c:pt idx="5">
                    <c:v>Oracle bound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2.4343</c:v>
                </c:pt>
                <c:pt idx="1">
                  <c:v>1.5737</c:v>
                </c:pt>
                <c:pt idx="2">
                  <c:v>1.651</c:v>
                </c:pt>
                <c:pt idx="3">
                  <c:v>1.56</c:v>
                </c:pt>
                <c:pt idx="4">
                  <c:v>1.5399</c:v>
                </c:pt>
                <c:pt idx="5">
                  <c:v>0.9942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631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31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CONTEXT &amp;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GRID IS BECOMING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PREDICTABLE.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fluctuate. Demand moves. Flexibility is uncertain. Every intervention has consequences.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874520" cy="658368"/>
          </a:xfrm>
          <a:prstGeom prst="rect">
            <a:avLst/>
          </a:prstGeom>
          <a:solidFill>
            <a:srgbClr val="F7F5F0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2615184"/>
            <a:ext cx="502920" cy="585216"/>
          </a:xfrm>
          <a:prstGeom prst="line">
            <a:avLst/>
          </a:prstGeom>
          <a:noFill/>
          <a:ln w="12700">
            <a:solidFill>
              <a:srgbClr val="8B98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63824"/>
            <a:ext cx="1874520" cy="658368"/>
          </a:xfrm>
          <a:prstGeom prst="rect">
            <a:avLst/>
          </a:prstGeom>
          <a:solidFill>
            <a:srgbClr val="F7F5F0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382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flipV="1">
            <a:off x="2377440" y="3200400"/>
            <a:ext cx="502920" cy="292608"/>
          </a:xfrm>
          <a:prstGeom prst="line">
            <a:avLst/>
          </a:prstGeom>
          <a:noFill/>
          <a:ln w="12700">
            <a:solidFill>
              <a:srgbClr val="8B98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041648"/>
            <a:ext cx="1874520" cy="658368"/>
          </a:xfrm>
          <a:prstGeom prst="rect">
            <a:avLst/>
          </a:prstGeom>
          <a:solidFill>
            <a:srgbClr val="F7F5F0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4164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ASSETS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2377440" y="3200400"/>
            <a:ext cx="502920" cy="1170432"/>
          </a:xfrm>
          <a:prstGeom prst="line">
            <a:avLst/>
          </a:prstGeom>
          <a:noFill/>
          <a:ln w="12700">
            <a:solidFill>
              <a:srgbClr val="8B98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2331720"/>
            <a:ext cx="1691640" cy="173736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5,196 nodes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1,871 loads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30175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56048" y="2331720"/>
            <a:ext cx="1691640" cy="173736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intervals, not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numbers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47688" y="30175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31736" y="2331720"/>
            <a:ext cx="1691640" cy="173736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31736" y="2487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31736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or hold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892040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029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ON REAL DATA  ·  SMART-DS v1.0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5321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5,196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02920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0" y="5321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1,871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2743200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loads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5321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1,216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4983480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arrays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0" y="5321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223760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464040" y="5321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35,040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9464040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intervals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08990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SMART-DS v1.0 feeder p1uhs0_1247, AUS/P1U 2018; verified ingestion, 359 files SHA-256 checked.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THE CRITICAL INDUSTRY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IS ONLY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PROBLEM.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naive automation fails: four interacting challenges, measured on a real feeder.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61288" y="1975104"/>
            <a:ext cx="4704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DEMAND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304288"/>
            <a:ext cx="45857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load on a 15-minute grid is smooth at 15 min but error grows with horizon: MAE 0.40 kW at 15 min vs 2.43 kW at 24 h for persistence.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675888"/>
            <a:ext cx="5362956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3076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81444" y="1975104"/>
            <a:ext cx="4704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INTERMITTENCY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1444" y="2304288"/>
            <a:ext cx="45857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ramps concentrate error. Without a weather forecast, day-ahead PV error is 74.3 kW against 8.57 kW with weather at the origin.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3076" y="3675888"/>
            <a:ext cx="5362956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61288" y="3858768"/>
            <a:ext cx="4704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FLEXIBILITY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" y="4187952"/>
            <a:ext cx="45857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8 physical flexibility dimensions are supported by the data. A statistical proxy exists, but it is not dispatchable capacity.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23076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81444" y="3858768"/>
            <a:ext cx="4704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UNCHECKED DECISION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81444" y="4187952"/>
            <a:ext cx="45857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point forecast hides its own reliability. The default constant-width interval fails 11 of 12 coverage cells on this feeder.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650992"/>
            <a:ext cx="1956816" cy="45720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65099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ERROR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459736" y="56509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34056" y="5650992"/>
            <a:ext cx="1956816" cy="45720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4056" y="565099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UNCERTAINTY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4690872" y="56509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65192" y="5650992"/>
            <a:ext cx="1956816" cy="45720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565099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CAPABILITY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922008" y="56509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96328" y="5650992"/>
            <a:ext cx="1956816" cy="457200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565099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CONSEQUENCES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9427464" y="56509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738360" y="5650992"/>
            <a:ext cx="2377440" cy="457200"/>
          </a:xfrm>
          <a:prstGeom prst="rect">
            <a:avLst/>
          </a:prstGeom>
          <a:solidFill>
            <a:srgbClr val="26313C"/>
          </a:solidFill>
          <a:ln/>
        </p:spPr>
      </p:sp>
      <p:sp>
        <p:nvSpPr>
          <p:cNvPr id="37" name="Text 35"/>
          <p:cNvSpPr/>
          <p:nvPr/>
        </p:nvSpPr>
        <p:spPr>
          <a:xfrm>
            <a:off x="9738360" y="5650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AUTOMATION IS UNSAFE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PROPOSED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GRIDSENTINAL.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adaptive, self-verifying energy intelligence system for renewable-integrated distributed networks.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45720" cy="1051560"/>
          </a:xfrm>
          <a:prstGeom prst="line">
            <a:avLst/>
          </a:prstGeom>
          <a:noFill/>
          <a:ln w="31750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848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“Don't just predict the grid.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what happens next.”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Uncertainty, capability limits and decision verification are first-class parts of the pipeline, not reporting dashboards.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224528"/>
            <a:ext cx="969264" cy="384048"/>
          </a:xfrm>
          <a:prstGeom prst="rect">
            <a:avLst/>
          </a:prstGeom>
          <a:solidFill>
            <a:srgbClr val="3D5A73"/>
          </a:solidFill>
          <a:ln w="9525">
            <a:solidFill>
              <a:srgbClr val="3D5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245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700784" y="4224528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4224528"/>
            <a:ext cx="969264" cy="384048"/>
          </a:xfrm>
          <a:prstGeom prst="rect">
            <a:avLst/>
          </a:prstGeom>
          <a:solidFill>
            <a:srgbClr val="3D5A73"/>
          </a:solidFill>
          <a:ln w="9525">
            <a:solidFill>
              <a:srgbClr val="3D5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42245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2889504" y="4224528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224528"/>
            <a:ext cx="969264" cy="384048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42245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078224" y="4224528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224528"/>
            <a:ext cx="969264" cy="384048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2245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5266944" y="4224528"/>
            <a:ext cx="219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4224528"/>
            <a:ext cx="969264" cy="384048"/>
          </a:xfrm>
          <a:prstGeom prst="rect">
            <a:avLst/>
          </a:prstGeom>
          <a:solidFill>
            <a:srgbClr val="EFEBE2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42245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731520" y="47365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Shaded: operational today. Outlined: designed, next on the roadmap.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98464" y="1901952"/>
            <a:ext cx="5742432" cy="207765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sx="100000" sy="100000" kx="0" ky="0" algn="bl" rotWithShape="0" blurRad="101600" dist="25400" dir="5400000">
              <a:srgbClr val="26313C">
                <a:alpha val="18000"/>
              </a:srgbClr>
            </a:outerShdw>
          </a:effectLst>
        </p:spPr>
      </p:sp>
      <p:pic>
        <p:nvPicPr>
          <p:cNvPr id="29" name="Image 0" descr="web/shots/deck/consol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956816"/>
            <a:ext cx="5632704" cy="196792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053328" y="4034470"/>
            <a:ext cx="5632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console: 48-hour demand forecast with calibrated 90% interval, recorded model output on SMART-DS telemetry.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TELEMETRY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TRUSTED DECISION.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layered, evidence-based pipeline with explicit operational status for every layer.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261872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778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73736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1261872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7510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15468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286000"/>
            <a:ext cx="1261872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9242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1261872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974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98932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286000"/>
            <a:ext cx="1261872" cy="1371600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40664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0" y="2286000"/>
            <a:ext cx="1261872" cy="1371600"/>
          </a:xfrm>
          <a:prstGeom prst="rect">
            <a:avLst/>
          </a:prstGeom>
          <a:solidFill>
            <a:srgbClr val="F7F5F0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438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4438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9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PROXY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82396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06840" y="2286000"/>
            <a:ext cx="1261872" cy="1371600"/>
          </a:xfrm>
          <a:prstGeom prst="rect">
            <a:avLst/>
          </a:prstGeom>
          <a:solidFill>
            <a:srgbClr val="F7F5F0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6170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6170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0241280" y="27889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424160" y="2286000"/>
            <a:ext cx="1261872" cy="1371600"/>
          </a:xfrm>
          <a:prstGeom prst="rect">
            <a:avLst/>
          </a:prstGeom>
          <a:solidFill>
            <a:srgbClr val="F7F5F0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79024" y="2414016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479024" y="325526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spc="5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502920" y="3977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TODAY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42245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and reality validation, multi-expert forecasting, and calibrated uncertainty are operational end to end on 179,520 sealed test rows.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3977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92240" y="422452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today is a statistical proxy (a data blocker is recorded). The decision, red-team, twin and assurance layers are designed and specified, not implemented.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513892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285232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contract:  </a:t>
            </a:r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layer is marked operational that has not been run end to end against the sealed test split. Roadmap components are labelled as such throughout this deck.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PROBABILISTIC INTELLIGENCE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WHAT YOU DON'T KNOW.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point forecast fails silently. A calibrated interval says which rows to trust, and which to suppress.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1956816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75488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48-hour window, 1-hour-ahead horizon, asset load_p1ulv14763. Recorded output, sealed test split.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5084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90.2%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02920" y="5458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at h=1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459736" y="5084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2459736" y="5458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at h=4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16552" y="5084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+0.67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416552" y="5458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width-error rank corr.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29400" y="19568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WITHOUT FICTION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629400" y="2340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2340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C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8 flexibility dimensions supported by the dataset (G-01).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629400" y="3127248"/>
            <a:ext cx="4892040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3236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0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629400" y="3529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envelope from 1,871 consumption series; rank correlation with error confirms signal.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629400" y="4023360"/>
            <a:ext cx="4892040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133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22960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ONLY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29400" y="44256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scenarios stay clearly labelled as assumptions.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629400" y="5138928"/>
            <a:ext cx="4937760" cy="658368"/>
          </a:xfrm>
          <a:prstGeom prst="rect">
            <a:avLst/>
          </a:prstGeom>
          <a:solidFill>
            <a:srgbClr val="EFEBE2"/>
          </a:solidFill>
          <a:ln/>
        </p:spPr>
      </p:sp>
      <p:sp>
        <p:nvSpPr>
          <p:cNvPr id="31" name="Text 28"/>
          <p:cNvSpPr/>
          <p:nvPr/>
        </p:nvSpPr>
        <p:spPr>
          <a:xfrm>
            <a:off x="6766560" y="51389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consumption behaviour is not automatically dispatchable capacity.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DECISION ASSURANCE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IT ACTS,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TRIES TO BREAK THE DECISION.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asking only what the system should do, GridSentinal asks whether the action survives hostile evaluation.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drafts a candidate action from forecasts, uncertainty, flexibility and constraints.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249424"/>
            <a:ext cx="13716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61488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61488" y="2816352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scenarios attack failure modes: when is it unsafe, ineffective or suboptimal?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64608" y="2249424"/>
            <a:ext cx="13716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0056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0056" y="2816352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digital twin replays the action against physics and compares outcomes.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23176" y="2249424"/>
            <a:ext cx="13716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78624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78624" y="2816352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assurance gate approves, rejects, or re-optimizes, with human-in-the-loop fallback.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81744" y="2249424"/>
            <a:ext cx="13716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7192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37192" y="25054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37192" y="2816352"/>
            <a:ext cx="1956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verification. Outcomes return to the system as performance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206240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52544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STATUS.  </a:t>
            </a:r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assurance sequence is a designed architecture (roadmap), not shipped functionality. What is shipped today is the discipline it will enforce: sealed data splits, pre-registered success bars, and negative results recorded instead of engineered around.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257800"/>
            <a:ext cx="11183112" cy="749808"/>
          </a:xfrm>
          <a:prstGeom prst="rect">
            <a:avLst/>
          </a:prstGeom>
          <a:solidFill>
            <a:srgbClr val="26313C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257800"/>
            <a:ext cx="10634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 action is not executed because it was proposed. It is executed because it survived.”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TECHNICAL 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RESEARCH PIPELINE,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SINGLE MODEL.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each with an explicit implementation status and a measurable exit criterion.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11183112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99339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99339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SMART-DS v1.0, 15-minute native resolution, 359 files checksummed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87000" y="199339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816352"/>
            <a:ext cx="11183112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1635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28163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81635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Persistence, Hist-GBM, temporal TCN; fixed weighted ensemble ships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87000" y="281635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639312"/>
            <a:ext cx="11183112" cy="713232"/>
          </a:xfrm>
          <a:prstGeom prst="rect">
            <a:avLst/>
          </a:prstGeom>
          <a:solidFill>
            <a:srgbClr val="EFEBE2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3931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363931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INTELLIGENCE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63931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Split-conformal intervals, six methods calibrated, one published procedure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87000" y="363931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462272"/>
            <a:ext cx="11183112" cy="713232"/>
          </a:xfrm>
          <a:prstGeom prst="rect">
            <a:avLst/>
          </a:prstGeom>
          <a:solidFill>
            <a:srgbClr val="F7F5F0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622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44622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462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audit, behavioural envelope, physical gaps recorded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87000" y="44622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5285232"/>
            <a:ext cx="11183112" cy="713232"/>
          </a:xfrm>
          <a:prstGeom prst="rect">
            <a:avLst/>
          </a:prstGeom>
          <a:solidFill>
            <a:srgbClr val="F7F5F0"/>
          </a:solidFill>
          <a:ln w="9525">
            <a:solidFill>
              <a:srgbClr val="D9D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8523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528523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528523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Optimization, red team, digital twin, assurance gate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87000" y="528523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6035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74520" y="603504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 ·  PyTorch (CPU-deterministic)  ·  scikit-learn  ·  OpenDSS  ·  pytest (1,235 tests)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RESEARCH &amp; EXPERIMENTAL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TESTED THE IDEA.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JUST DEMO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1,235 tests passing, 29 registered experiments, and negative results recorded rather than engineered around.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975104"/>
            <a:ext cx="194767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6654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2257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Language-model specialization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C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1488" y="1975104"/>
            <a:ext cx="194767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206654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61488" y="232257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expert routing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61488" y="27614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C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0056" y="1975104"/>
            <a:ext cx="194767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206654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0056" y="232257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calibration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0056" y="27614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78624" y="1975104"/>
            <a:ext cx="194767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206654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78624" y="232257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capability audit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78624" y="27614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SUPPORT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537192" y="1975104"/>
            <a:ext cx="194767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37192" y="206654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37192" y="2322576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contribution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37192" y="27614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TARGET-DEPENDENT</a:t>
            </a:r>
            <a:endParaRPr lang="en-US" sz="8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02920" y="3154680"/>
          <a:ext cx="5852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502920" y="5943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 error at 24 h ahead (kW MAE, sealed test split, 179,520 rows). The fixed weighted ensemble ships; the oracle bounds what perfect routing would reach.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20840" y="3154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20840" y="34930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+0.66 to +0.71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6720840" y="38404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correlation between interval width and realized error at every horizon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720840" y="4334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4.2x to 4.8x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6720840" y="4681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error carried by the widest tenth of prediction intervals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720840" y="51755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12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6720840" y="55229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cells failed by the default constant-width interval (recorded, not hidden)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INNOVATION &amp; CHALLENGE ALIGNMENT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MAKES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GRIDSENTINAL DIFFERENT?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causal mapping from the Grid Reliability challenge needs to system capabilities.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NEED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43400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RESPONSE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49640" y="18745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INTERMITTENCY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22128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22128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multi-expert nowcasting plus a calibrated 24 h horizon with conformal error envelopes.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22128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2128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foresight for DISCOMs; no blind generation shortfalls.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&amp; STORAGE COORDINATION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0332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3108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capability audit and behavioural envelopes; refuses unverified dispatch.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108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over-commitment penalties; only physically supported assets move.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13632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05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LOSSES &amp; PHYSICS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03320" y="40050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60520" y="40050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energy contract with loss modeling; OpenDSS twin validates power flow.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40050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40050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actions close physically; thermal stress prevented.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80974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9011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GRID SAFETY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03320" y="49011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49011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stress testing plus a decision-assurance gate with human fallback.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49011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490118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unchecked automated decisions; verifiable operational safety.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870448"/>
            <a:ext cx="11183112" cy="475488"/>
          </a:xfrm>
          <a:prstGeom prst="rect">
            <a:avLst/>
          </a:prstGeom>
          <a:solidFill>
            <a:srgbClr val="EFEBE2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87044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SYSTEM-LEVEL INNOVATION.  </a:t>
            </a:r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treats uncertainty, capability limits and verification as first-class parts of energy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VALUE CREATION &amp;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LAB EVIDENCE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INDUSTRIAL DEPLOYMENT.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line between the completed research foundation and industrial scaling.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RELIABILITY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Pre-emptive mitigation of solar ramps and evening peaks through calibrated forecast bounds.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127248"/>
            <a:ext cx="5120640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369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DISCOM OPERATIONS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into demand behaviour; statistical proxies never mistaken for dispatchable capacity.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120640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96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SAFETY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4398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decisions instead of blind automation; every consequential action confirmed.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992624"/>
            <a:ext cx="5120640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1023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ENERGY-AWARE MLOPS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5376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judged by operational consequence, with deployment gates.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0" cy="429768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3042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2331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FOUNDATION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69480" y="25968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69480" y="2834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validation, forecasting ensemble, calibrated uncertainty, flexibility audit, feature ablation.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29400" y="36027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5A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69480" y="3630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VERIFICATION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69480" y="3895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69480" y="41330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Optimization, digital twin, red team, assurance gate; ADMS / DERMS integration paths.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29400" y="49011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8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69480" y="4928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SCALING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69480" y="51937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69480" y="54315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Hardware-in-the-loop testing, MLOps deployment gates, multi-feeder operation.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TEAM &amp; 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GRID'S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LAYER.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Unsupervised Suspects · Yuva Yodha Energy Tech Hackathon 2026, Schneider Electric.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GRIDSENTINAL  |  Adaptive, Self-Verifying Energy Intelligence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6510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Yuva Yodha Energy Tech 2026  |  Schneider Electric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71632" y="6510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Pratham Kapoor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103120"/>
            <a:ext cx="0" cy="54864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Saransh Naruka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103120"/>
            <a:ext cx="0" cy="54864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 Pandey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A086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103120"/>
            <a:ext cx="0" cy="54864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Moinuddin Shaikh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A093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2103120"/>
            <a:ext cx="0" cy="548640"/>
          </a:xfrm>
          <a:prstGeom prst="line">
            <a:avLst/>
          </a:prstGeom>
          <a:noFill/>
          <a:ln w="9525">
            <a:solidFill>
              <a:srgbClr val="D9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Javin Sharma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9828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B091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84848" y="2825496"/>
            <a:ext cx="4956048" cy="256317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  <a:effectLst>
            <a:outerShdw sx="100000" sy="100000" kx="0" ky="0" algn="bl" rotWithShape="0" blurRad="101600" dist="25400" dir="5400000">
              <a:srgbClr val="26313C">
                <a:alpha val="18000"/>
              </a:srgbClr>
            </a:outerShdw>
          </a:effectLst>
        </p:spPr>
      </p:sp>
      <p:pic>
        <p:nvPicPr>
          <p:cNvPr id="25" name="Image 0" descr="web/shots/deck/hero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2" y="2880360"/>
            <a:ext cx="4846320" cy="24534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39712" y="544353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GridSentinal public experience and console: github.com/PrathamKapoor/GridSentinal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SENTINAL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3383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JUST AUTOMATE THE GRID.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631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THINK BEFORE IT ACTS.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github.com/PrathamKapoor/GridSentinal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598932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Proprietary. All rights reserved. Research system; no production deployment is claimed.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GridSentinal - Yuva Yodha Energy Tech 2026</dc:title>
  <dc:subject>PptxGenJS Presentation</dc:subject>
  <dc:creator>The Unsupervised Suspects</dc:creator>
  <cp:lastModifiedBy>The Unsupervised Suspects</cp:lastModifiedBy>
  <cp:revision>1</cp:revision>
  <dcterms:created xsi:type="dcterms:W3CDTF">2026-10-04T18:29:07Z</dcterms:created>
  <dcterms:modified xsi:type="dcterms:W3CDTF">2026-10-04T18:29:07Z</dcterms:modified>
</cp:coreProperties>
</file>