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01 / THE CONTEXT &amp; PROBLEM</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THE GRID IS BECOMING LESS PREDICTABLE.</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Renewables fluctuate. Demand moves. Flexibility is uncertain. Every intervention has consequences.</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01 / 11 ›</a:t>
            </a:r>
          </a:p>
        </p:txBody>
      </p:sp>
      <p:sp>
        <p:nvSpPr>
          <p:cNvPr id="11" name="Rounded Rectangle 10"/>
          <p:cNvSpPr/>
          <p:nvPr/>
        </p:nvSpPr>
        <p:spPr>
          <a:xfrm>
            <a:off x="731520" y="1691640"/>
            <a:ext cx="5303520"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10512"/>
            <a:ext cx="4937760" cy="2103120"/>
          </a:xfrm>
          <a:prstGeom prst="rect">
            <a:avLst/>
          </a:prstGeom>
          <a:noFill/>
        </p:spPr>
        <p:txBody>
          <a:bodyPr wrap="square">
            <a:spAutoFit/>
          </a:bodyPr>
          <a:lstStyle/>
          <a:p>
            <a:pPr>
              <a:defRPr sz="950" b="1">
                <a:solidFill>
                  <a:srgbClr val="00E5FF"/>
                </a:solidFill>
                <a:latin typeface="Consolas"/>
              </a:defRPr>
            </a:pPr>
            <a:r>
              <a:t>THE INTERACTION OF FORCES</a:t>
            </a:r>
          </a:p>
          <a:p>
            <a:pPr>
              <a:spcBef>
                <a:spcPts val="600"/>
              </a:spcBef>
              <a:defRPr sz="950">
                <a:solidFill>
                  <a:srgbClr val="94A3B8"/>
                </a:solidFill>
                <a:latin typeface="Segoe UI"/>
              </a:defRPr>
            </a:pPr>
            <a:r>
              <a:t>Modern distribution networks operate under simultaneous non-stationary dynamics:</a:t>
            </a:r>
          </a:p>
          <a:p>
            <a:pPr>
              <a:spcBef>
                <a:spcPts val="400"/>
              </a:spcBef>
              <a:defRPr sz="880">
                <a:solidFill>
                  <a:srgbClr val="F8FAFC"/>
                </a:solidFill>
                <a:latin typeface="Segoe UI"/>
              </a:defRPr>
            </a:pPr>
            <a:r>
              <a:t>• Renewable Intermittency: Feeder solar &amp; wind swing by MWs within minutes. Without weather forecasts, 24h PV prediction error spikes to 74.3 kW (R²=0.62).</a:t>
            </a:r>
          </a:p>
          <a:p>
            <a:pPr>
              <a:spcBef>
                <a:spcPts val="400"/>
              </a:spcBef>
              <a:defRPr sz="880">
                <a:solidFill>
                  <a:srgbClr val="F8FAFC"/>
                </a:solidFill>
                <a:latin typeface="Segoe UI"/>
              </a:defRPr>
            </a:pPr>
            <a:r>
              <a:t>• Variable Demand: 1,871 residential &amp; commercial loads shift concurrently. Peak evening ramps concentrate 18.5x more prediction error than calm hours.</a:t>
            </a:r>
          </a:p>
          <a:p>
            <a:pPr>
              <a:spcBef>
                <a:spcPts val="400"/>
              </a:spcBef>
              <a:defRPr sz="880">
                <a:solidFill>
                  <a:srgbClr val="F8FAFC"/>
                </a:solidFill>
                <a:latin typeface="Segoe UI"/>
              </a:defRPr>
            </a:pPr>
            <a:r>
              <a:t>• Uncertain Flexibility: Operators balance grids using assumed flexibility, yet historical consumption variation carries zero physical control guarantees.</a:t>
            </a:r>
          </a:p>
        </p:txBody>
      </p:sp>
      <p:sp>
        <p:nvSpPr>
          <p:cNvPr id="13" name="Rounded Rectangle 12"/>
          <p:cNvSpPr/>
          <p:nvPr/>
        </p:nvSpPr>
        <p:spPr>
          <a:xfrm>
            <a:off x="914400" y="3977639"/>
            <a:ext cx="4937760" cy="2148840"/>
          </a:xfrm>
          <a:prstGeom prst="roundRect">
            <a:avLst/>
          </a:prstGeom>
          <a:solidFill>
            <a:srgbClr val="09121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041648"/>
            <a:ext cx="4754880" cy="2011680"/>
          </a:xfrm>
          <a:prstGeom prst="rect">
            <a:avLst/>
          </a:prstGeom>
          <a:noFill/>
        </p:spPr>
        <p:txBody>
          <a:bodyPr wrap="square">
            <a:spAutoFit/>
          </a:bodyPr>
          <a:lstStyle/>
          <a:p>
            <a:pPr>
              <a:defRPr sz="850" b="1">
                <a:solidFill>
                  <a:srgbClr val="00D382"/>
                </a:solidFill>
                <a:latin typeface="Consolas"/>
              </a:defRPr>
            </a:pPr>
            <a:r>
              <a:t>ENERGY SYSTEM VULNERABILITY COUPLING:</a:t>
            </a:r>
          </a:p>
        </p:txBody>
      </p:sp>
      <p:sp>
        <p:nvSpPr>
          <p:cNvPr id="15" name="Rounded Rectangle 14"/>
          <p:cNvSpPr/>
          <p:nvPr/>
        </p:nvSpPr>
        <p:spPr>
          <a:xfrm>
            <a:off x="1051560" y="4343400"/>
            <a:ext cx="2011680" cy="347472"/>
          </a:xfrm>
          <a:prstGeom prst="roundRect">
            <a:avLst/>
          </a:prstGeom>
          <a:solidFill>
            <a:srgbClr val="131F2C"/>
          </a:solidFill>
          <a:ln w="12700">
            <a:solidFill>
              <a:srgbClr val="00D38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780" b="1">
                <a:solidFill>
                  <a:srgbClr val="F8FAFC"/>
                </a:solidFill>
                <a:latin typeface="Consolas"/>
              </a:defRPr>
            </a:pPr>
            <a:r>
              <a:t>RENEWABLES (Intermittent)</a:t>
            </a:r>
          </a:p>
        </p:txBody>
      </p:sp>
      <p:sp>
        <p:nvSpPr>
          <p:cNvPr id="16" name="Rounded Rectangle 15"/>
          <p:cNvSpPr/>
          <p:nvPr/>
        </p:nvSpPr>
        <p:spPr>
          <a:xfrm>
            <a:off x="1051560" y="4800600"/>
            <a:ext cx="2011680" cy="347472"/>
          </a:xfrm>
          <a:prstGeom prst="roundRect">
            <a:avLst/>
          </a:prstGeom>
          <a:solidFill>
            <a:srgbClr val="131F2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780" b="1">
                <a:solidFill>
                  <a:srgbClr val="F8FAFC"/>
                </a:solidFill>
                <a:latin typeface="Consolas"/>
              </a:defRPr>
            </a:pPr>
            <a:r>
              <a:t>DEMAND (Volatile Shifts)</a:t>
            </a:r>
          </a:p>
        </p:txBody>
      </p:sp>
      <p:sp>
        <p:nvSpPr>
          <p:cNvPr id="17" name="Rounded Rectangle 16"/>
          <p:cNvSpPr/>
          <p:nvPr/>
        </p:nvSpPr>
        <p:spPr>
          <a:xfrm>
            <a:off x="1051560" y="5257800"/>
            <a:ext cx="2011680" cy="347472"/>
          </a:xfrm>
          <a:prstGeom prst="roundRect">
            <a:avLst/>
          </a:prstGeom>
          <a:solidFill>
            <a:srgbClr val="131F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780" b="1">
                <a:solidFill>
                  <a:srgbClr val="F8FAFC"/>
                </a:solidFill>
                <a:latin typeface="Consolas"/>
              </a:defRPr>
            </a:pPr>
            <a:r>
              <a:t>DISTRIBUTED ASSETS (DERs)</a:t>
            </a:r>
          </a:p>
        </p:txBody>
      </p:sp>
      <p:sp>
        <p:nvSpPr>
          <p:cNvPr id="18" name="Rounded Rectangle 17"/>
          <p:cNvSpPr/>
          <p:nvPr/>
        </p:nvSpPr>
        <p:spPr>
          <a:xfrm>
            <a:off x="3429000" y="4434840"/>
            <a:ext cx="2194560" cy="438912"/>
          </a:xfrm>
          <a:prstGeom prst="roundRect">
            <a:avLst/>
          </a:prstGeom>
          <a:solidFill>
            <a:srgbClr val="131F2C"/>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780" b="1">
                <a:solidFill>
                  <a:srgbClr val="F8FAFC"/>
                </a:solidFill>
                <a:latin typeface="Consolas"/>
              </a:defRPr>
            </a:pPr>
            <a:r>
              <a:t>GRID STATE &amp; UNCERTAINTY</a:t>
            </a:r>
          </a:p>
        </p:txBody>
      </p:sp>
      <p:sp>
        <p:nvSpPr>
          <p:cNvPr id="19" name="Rounded Rectangle 18"/>
          <p:cNvSpPr/>
          <p:nvPr/>
        </p:nvSpPr>
        <p:spPr>
          <a:xfrm>
            <a:off x="3429000" y="5074920"/>
            <a:ext cx="2194560" cy="438912"/>
          </a:xfrm>
          <a:prstGeom prst="roundRect">
            <a:avLst/>
          </a:prstGeom>
          <a:solidFill>
            <a:srgbClr val="131F2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780" b="1">
                <a:solidFill>
                  <a:srgbClr val="F8FAFC"/>
                </a:solidFill>
                <a:latin typeface="Consolas"/>
              </a:defRPr>
            </a:pPr>
            <a:r>
              <a:t>DECISION &amp; CONSEQUENCE</a:t>
            </a:r>
          </a:p>
        </p:txBody>
      </p:sp>
      <p:sp>
        <p:nvSpPr>
          <p:cNvPr id="20" name="TextBox 19"/>
          <p:cNvSpPr txBox="1"/>
          <p:nvPr/>
        </p:nvSpPr>
        <p:spPr>
          <a:xfrm>
            <a:off x="3108960" y="4709160"/>
            <a:ext cx="320040" cy="457200"/>
          </a:xfrm>
          <a:prstGeom prst="rect">
            <a:avLst/>
          </a:prstGeom>
          <a:noFill/>
        </p:spPr>
        <p:txBody>
          <a:bodyPr wrap="none">
            <a:spAutoFit/>
          </a:bodyPr>
          <a:lstStyle/>
          <a:p>
            <a:pPr>
              <a:defRPr sz="1400">
                <a:solidFill>
                  <a:srgbClr val="00E5FF"/>
                </a:solidFill>
                <a:latin typeface="Segoe UI"/>
              </a:defRPr>
            </a:pPr>
            <a:r>
              <a:t>➔</a:t>
            </a:r>
          </a:p>
        </p:txBody>
      </p:sp>
      <p:sp>
        <p:nvSpPr>
          <p:cNvPr id="21" name="Rounded Rectangle 20"/>
          <p:cNvSpPr/>
          <p:nvPr/>
        </p:nvSpPr>
        <p:spPr>
          <a:xfrm>
            <a:off x="6217920" y="1691640"/>
            <a:ext cx="5242255" cy="13716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783080"/>
            <a:ext cx="4876495" cy="1188720"/>
          </a:xfrm>
          <a:prstGeom prst="rect">
            <a:avLst/>
          </a:prstGeom>
          <a:noFill/>
        </p:spPr>
        <p:txBody>
          <a:bodyPr wrap="square">
            <a:spAutoFit/>
          </a:bodyPr>
          <a:lstStyle/>
          <a:p>
            <a:pPr>
              <a:defRPr sz="900" b="1">
                <a:solidFill>
                  <a:srgbClr val="00D382"/>
                </a:solidFill>
                <a:latin typeface="Consolas"/>
              </a:defRPr>
            </a:pPr>
            <a:r>
              <a:t>REALITY BENCHMARK: SMART-DS V1.0 FEEDER</a:t>
            </a:r>
          </a:p>
          <a:p>
            <a:pPr>
              <a:spcBef>
                <a:spcPts val="400"/>
              </a:spcBef>
              <a:defRPr sz="1000" b="1">
                <a:solidFill>
                  <a:srgbClr val="F8FAFC"/>
                </a:solidFill>
                <a:latin typeface="Consolas"/>
              </a:defRPr>
            </a:pPr>
            <a:r>
              <a:t>5,196 Nodes  |  1,871 Customer Loads  |  1,216 PV Arrays  |  93 Batteries</a:t>
            </a:r>
          </a:p>
          <a:p>
            <a:pPr>
              <a:spcBef>
                <a:spcPts val="400"/>
              </a:spcBef>
              <a:defRPr sz="880">
                <a:solidFill>
                  <a:srgbClr val="94A3B8"/>
                </a:solidFill>
                <a:latin typeface="Segoe UI"/>
              </a:defRPr>
            </a:pPr>
            <a:r>
              <a:t>Evaluated on 35,040 native 15-minute intervals across real geographic distribution topology. No synthetic data, no artificial smoothing.</a:t>
            </a:r>
          </a:p>
        </p:txBody>
      </p:sp>
      <p:sp>
        <p:nvSpPr>
          <p:cNvPr id="23" name="Rounded Rectangle 22"/>
          <p:cNvSpPr/>
          <p:nvPr/>
        </p:nvSpPr>
        <p:spPr>
          <a:xfrm>
            <a:off x="6217920" y="3200400"/>
            <a:ext cx="5242255" cy="128016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291840"/>
            <a:ext cx="4876495" cy="1097280"/>
          </a:xfrm>
          <a:prstGeom prst="rect">
            <a:avLst/>
          </a:prstGeom>
          <a:noFill/>
        </p:spPr>
        <p:txBody>
          <a:bodyPr wrap="square">
            <a:spAutoFit/>
          </a:bodyPr>
          <a:lstStyle/>
          <a:p>
            <a:pPr>
              <a:defRPr sz="900" b="1">
                <a:solidFill>
                  <a:srgbClr val="F59E0B"/>
                </a:solidFill>
                <a:latin typeface="Consolas"/>
              </a:defRPr>
            </a:pPr>
            <a:r>
              <a:t>UNMODELLED PHYSICS: 3.22% TECHNICAL LOSSES</a:t>
            </a:r>
          </a:p>
          <a:p>
            <a:pPr>
              <a:spcBef>
                <a:spcPts val="400"/>
              </a:spcBef>
              <a:defRPr sz="880">
                <a:solidFill>
                  <a:srgbClr val="94A3B8"/>
                </a:solidFill>
                <a:latin typeface="Segoe UI"/>
              </a:defRPr>
            </a:pPr>
            <a:r>
              <a:t>Real feeders lose 501.67 kW across lines at 15,090.72 kW load. Naive balance algorithms that ignore physics fail to close by &gt;500 kW.</a:t>
            </a:r>
          </a:p>
        </p:txBody>
      </p:sp>
      <p:sp>
        <p:nvSpPr>
          <p:cNvPr id="25" name="Rounded Rectangle 24"/>
          <p:cNvSpPr/>
          <p:nvPr/>
        </p:nvSpPr>
        <p:spPr>
          <a:xfrm>
            <a:off x="6217920" y="4617720"/>
            <a:ext cx="5242255" cy="164592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709160"/>
            <a:ext cx="4876495" cy="1463040"/>
          </a:xfrm>
          <a:prstGeom prst="rect">
            <a:avLst/>
          </a:prstGeom>
          <a:noFill/>
        </p:spPr>
        <p:txBody>
          <a:bodyPr wrap="square">
            <a:spAutoFit/>
          </a:bodyPr>
          <a:lstStyle/>
          <a:p>
            <a:pPr>
              <a:defRPr sz="900" b="1">
                <a:solidFill>
                  <a:srgbClr val="00E5FF"/>
                </a:solidFill>
                <a:latin typeface="Consolas"/>
              </a:defRPr>
            </a:pPr>
            <a:r>
              <a:t>THE IMPACT ON DISCOMS &amp; RELIABILITY</a:t>
            </a:r>
          </a:p>
          <a:p>
            <a:pPr>
              <a:spcBef>
                <a:spcPts val="400"/>
              </a:spcBef>
              <a:defRPr sz="880">
                <a:solidFill>
                  <a:srgbClr val="94A3B8"/>
                </a:solidFill>
                <a:latin typeface="Segoe UI"/>
              </a:defRPr>
            </a:pPr>
            <a:r>
              <a:t>When automated dispatch acts blindly on point forecasts, incorrect commands trigger line overloads, voltage collapse, and severe DSM deviation penalties.</a:t>
            </a:r>
          </a:p>
          <a:p>
            <a:pPr>
              <a:spcBef>
                <a:spcPts val="400"/>
              </a:spcBef>
              <a:defRPr sz="880" b="1">
                <a:solidFill>
                  <a:srgbClr val="F8FAFC"/>
                </a:solidFill>
                <a:latin typeface="Segoe UI"/>
              </a:defRPr>
            </a:pPr>
            <a:r>
              <a:t>GridSentinal Core Objective: Turn raw predictions into verified, risk-aware energy decisions.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02 / THE CRITICAL INDUSTRY GAP</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PREDICTION IS ONLY THE FIRST PROBLEM.</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Why naive automation fails: four interacting challenges that make unverified AI unsafe.</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02 / 11 ›</a:t>
            </a:r>
          </a:p>
        </p:txBody>
      </p:sp>
      <p:sp>
        <p:nvSpPr>
          <p:cNvPr id="11" name="Rounded Rectangle 10"/>
          <p:cNvSpPr/>
          <p:nvPr/>
        </p:nvSpPr>
        <p:spPr>
          <a:xfrm>
            <a:off x="731520" y="1691640"/>
            <a:ext cx="5212080" cy="187451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01368"/>
            <a:ext cx="4846320" cy="1655063"/>
          </a:xfrm>
          <a:prstGeom prst="rect">
            <a:avLst/>
          </a:prstGeom>
          <a:noFill/>
        </p:spPr>
        <p:txBody>
          <a:bodyPr wrap="square">
            <a:spAutoFit/>
          </a:bodyPr>
          <a:lstStyle/>
          <a:p>
            <a:pPr>
              <a:defRPr sz="900" b="1">
                <a:solidFill>
                  <a:srgbClr val="00E5FF"/>
                </a:solidFill>
                <a:latin typeface="Consolas"/>
              </a:defRPr>
            </a:pPr>
            <a:r>
              <a:t>01 / VARIABLE DEMAND</a:t>
            </a:r>
          </a:p>
          <a:p>
            <a:pPr>
              <a:spcBef>
                <a:spcPts val="200"/>
              </a:spcBef>
              <a:defRPr sz="1100" b="1">
                <a:solidFill>
                  <a:srgbClr val="F8FAFC"/>
                </a:solidFill>
                <a:latin typeface="Segoe UI"/>
              </a:defRPr>
            </a:pPr>
            <a:r>
              <a:t>Non-Stationary Consumer Loads</a:t>
            </a:r>
          </a:p>
          <a:p>
            <a:pPr>
              <a:spcBef>
                <a:spcPts val="300"/>
              </a:spcBef>
              <a:defRPr sz="880">
                <a:solidFill>
                  <a:srgbClr val="94A3B8"/>
                </a:solidFill>
                <a:latin typeface="Segoe UI"/>
              </a:defRPr>
            </a:pPr>
            <a:r>
              <a:t>Customer demand profiles change by day of week, seasonal temperature, and lifestyle shifts.</a:t>
            </a:r>
            <a:br/>
            <a:br/>
            <a:r>
              <a:t>• Peak error concentrates in high-demand &amp; high-ramp periods (18.5x error ratio vs baseline).</a:t>
            </a:r>
            <a:br/>
            <a:r>
              <a:t>• Standard regression models optimize average loss, collapsing exactly during critical stress hours.</a:t>
            </a:r>
          </a:p>
        </p:txBody>
      </p:sp>
      <p:sp>
        <p:nvSpPr>
          <p:cNvPr id="13" name="Rounded Rectangle 12"/>
          <p:cNvSpPr/>
          <p:nvPr/>
        </p:nvSpPr>
        <p:spPr>
          <a:xfrm>
            <a:off x="6217920" y="1691640"/>
            <a:ext cx="5212080" cy="187451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01368"/>
            <a:ext cx="4846320" cy="1655063"/>
          </a:xfrm>
          <a:prstGeom prst="rect">
            <a:avLst/>
          </a:prstGeom>
          <a:noFill/>
        </p:spPr>
        <p:txBody>
          <a:bodyPr wrap="square">
            <a:spAutoFit/>
          </a:bodyPr>
          <a:lstStyle/>
          <a:p>
            <a:pPr>
              <a:defRPr sz="900" b="1">
                <a:solidFill>
                  <a:srgbClr val="00E5FF"/>
                </a:solidFill>
                <a:latin typeface="Consolas"/>
              </a:defRPr>
            </a:pPr>
            <a:r>
              <a:t>02 / RENEWABLE INTERMITTENCY</a:t>
            </a:r>
          </a:p>
          <a:p>
            <a:pPr>
              <a:spcBef>
                <a:spcPts val="200"/>
              </a:spcBef>
              <a:defRPr sz="1100" b="1">
                <a:solidFill>
                  <a:srgbClr val="F8FAFC"/>
                </a:solidFill>
                <a:latin typeface="Segoe UI"/>
              </a:defRPr>
            </a:pPr>
            <a:r>
              <a:t>Weather-Dependent Generation Volatility</a:t>
            </a:r>
          </a:p>
          <a:p>
            <a:pPr>
              <a:spcBef>
                <a:spcPts val="300"/>
              </a:spcBef>
              <a:defRPr sz="880">
                <a:solidFill>
                  <a:srgbClr val="94A3B8"/>
                </a:solidFill>
                <a:latin typeface="Segoe UI"/>
              </a:defRPr>
            </a:pPr>
            <a:r>
              <a:t>Solar ramps occur with high frequency and zero advance notice from standard SCADA.</a:t>
            </a:r>
            <a:br/>
            <a:br/>
            <a:r>
              <a:t>• At 24h horizon without local weather forecasts, PV forecasting MAE jumps from 8.57 kW to 74.3 kW.</a:t>
            </a:r>
            <a:br/>
            <a:r>
              <a:t>• Percentage metrics (MAPE) fail completely (reading 126%) because 52.2% of solar data is zero.</a:t>
            </a:r>
          </a:p>
        </p:txBody>
      </p:sp>
      <p:sp>
        <p:nvSpPr>
          <p:cNvPr id="15" name="Rounded Rectangle 14"/>
          <p:cNvSpPr/>
          <p:nvPr/>
        </p:nvSpPr>
        <p:spPr>
          <a:xfrm>
            <a:off x="731520" y="3703320"/>
            <a:ext cx="5212080" cy="187451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13048"/>
            <a:ext cx="4846320" cy="1655063"/>
          </a:xfrm>
          <a:prstGeom prst="rect">
            <a:avLst/>
          </a:prstGeom>
          <a:noFill/>
        </p:spPr>
        <p:txBody>
          <a:bodyPr wrap="square">
            <a:spAutoFit/>
          </a:bodyPr>
          <a:lstStyle/>
          <a:p>
            <a:pPr>
              <a:defRPr sz="900" b="1">
                <a:solidFill>
                  <a:srgbClr val="00E5FF"/>
                </a:solidFill>
                <a:latin typeface="Consolas"/>
              </a:defRPr>
            </a:pPr>
            <a:r>
              <a:t>03 / UNCERTAIN FLEXIBILITY</a:t>
            </a:r>
          </a:p>
          <a:p>
            <a:pPr>
              <a:spcBef>
                <a:spcPts val="200"/>
              </a:spcBef>
              <a:defRPr sz="1100" b="1">
                <a:solidFill>
                  <a:srgbClr val="F8FAFC"/>
                </a:solidFill>
                <a:latin typeface="Segoe UI"/>
              </a:defRPr>
            </a:pPr>
            <a:r>
              <a:t>Consumption History != Controllable Capacity</a:t>
            </a:r>
          </a:p>
          <a:p>
            <a:pPr>
              <a:spcBef>
                <a:spcPts val="300"/>
              </a:spcBef>
              <a:defRPr sz="880">
                <a:solidFill>
                  <a:srgbClr val="94A3B8"/>
                </a:solidFill>
                <a:latin typeface="Segoe UI"/>
              </a:defRPr>
            </a:pPr>
            <a:r>
              <a:t>Standard smart grid tools mistake past load variation for available demand response.</a:t>
            </a:r>
            <a:br/>
            <a:br/>
            <a:r>
              <a:t>• Real feeder audit reveals 0 of 8 flexibility dimensions have physical control interfaces.</a:t>
            </a:r>
            <a:br/>
            <a:r>
              <a:t>• Batteries often lack real-time state-of-charge telemetry; dispatching assumed flexibility causes blackout risk.</a:t>
            </a:r>
          </a:p>
        </p:txBody>
      </p:sp>
      <p:sp>
        <p:nvSpPr>
          <p:cNvPr id="17" name="Rounded Rectangle 16"/>
          <p:cNvSpPr/>
          <p:nvPr/>
        </p:nvSpPr>
        <p:spPr>
          <a:xfrm>
            <a:off x="6217920" y="3703320"/>
            <a:ext cx="5212080" cy="187451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813048"/>
            <a:ext cx="4846320" cy="1655063"/>
          </a:xfrm>
          <a:prstGeom prst="rect">
            <a:avLst/>
          </a:prstGeom>
          <a:noFill/>
        </p:spPr>
        <p:txBody>
          <a:bodyPr wrap="square">
            <a:spAutoFit/>
          </a:bodyPr>
          <a:lstStyle/>
          <a:p>
            <a:pPr>
              <a:defRPr sz="900" b="1">
                <a:solidFill>
                  <a:srgbClr val="00E5FF"/>
                </a:solidFill>
                <a:latin typeface="Consolas"/>
              </a:defRPr>
            </a:pPr>
            <a:r>
              <a:t>04 / UNCHECKED DECISION RISK</a:t>
            </a:r>
          </a:p>
          <a:p>
            <a:pPr>
              <a:spcBef>
                <a:spcPts val="200"/>
              </a:spcBef>
              <a:defRPr sz="1100" b="1">
                <a:solidFill>
                  <a:srgbClr val="F8FAFC"/>
                </a:solidFill>
                <a:latin typeface="Segoe UI"/>
              </a:defRPr>
            </a:pPr>
            <a:r>
              <a:t>Execution Without Adversarial Verification</a:t>
            </a:r>
          </a:p>
          <a:p>
            <a:pPr>
              <a:spcBef>
                <a:spcPts val="300"/>
              </a:spcBef>
              <a:defRPr sz="880">
                <a:solidFill>
                  <a:srgbClr val="94A3B8"/>
                </a:solidFill>
                <a:latin typeface="Segoe UI"/>
              </a:defRPr>
            </a:pPr>
            <a:r>
              <a:t>Point forecasts feed directly into optimization solvers without verifying failure modes.</a:t>
            </a:r>
            <a:br/>
            <a:br/>
            <a:r>
              <a:t>• Naive automation acts on confidence without knowing if the forecast is in an uncalibrated regime.</a:t>
            </a:r>
            <a:br/>
            <a:r>
              <a:t>• No red-teaming exists to ask: 'What happens if this dispatch command coincides with a solar drop?'</a:t>
            </a:r>
          </a:p>
        </p:txBody>
      </p:sp>
      <p:sp>
        <p:nvSpPr>
          <p:cNvPr id="19" name="Rounded Rectangle 18"/>
          <p:cNvSpPr/>
          <p:nvPr/>
        </p:nvSpPr>
        <p:spPr>
          <a:xfrm>
            <a:off x="731520" y="5715000"/>
            <a:ext cx="10728655" cy="594360"/>
          </a:xfrm>
          <a:prstGeom prst="roundRect">
            <a:avLst/>
          </a:prstGeom>
          <a:solidFill>
            <a:srgbClr val="09121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760720"/>
            <a:ext cx="10362895" cy="502920"/>
          </a:xfrm>
          <a:prstGeom prst="rect">
            <a:avLst/>
          </a:prstGeom>
          <a:noFill/>
        </p:spPr>
        <p:txBody>
          <a:bodyPr wrap="square">
            <a:spAutoFit/>
          </a:bodyPr>
          <a:lstStyle/>
          <a:p>
            <a:pPr>
              <a:defRPr sz="850" b="1">
                <a:solidFill>
                  <a:srgbClr val="EF4444"/>
                </a:solidFill>
                <a:latin typeface="Consolas"/>
              </a:defRPr>
            </a:pPr>
            <a:r>
              <a:t>THE VULNERABILITY FORMULA:</a:t>
            </a:r>
          </a:p>
          <a:p>
            <a:pPr>
              <a:spcBef>
                <a:spcPts val="200"/>
              </a:spcBef>
              <a:defRPr sz="950" b="1">
                <a:solidFill>
                  <a:srgbClr val="F8FAFC"/>
                </a:solidFill>
                <a:latin typeface="Consolas"/>
              </a:defRPr>
            </a:pPr>
            <a:r>
              <a:t>[ Forecast Error ]  +  [ Hidden Uncertainty ]  +  [ Unknown Capability ]  +  [ Physical Consequences ]  =  Naive Automation is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03 / PROPOSED SOLUTION</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MEET GRIDSENTINAL.</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An adaptive, self-verifying energy intelligence system for renewable-integrated distributed networks.</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03 / 11 ›</a:t>
            </a:r>
          </a:p>
        </p:txBody>
      </p:sp>
      <p:sp>
        <p:nvSpPr>
          <p:cNvPr id="11" name="Rounded Rectangle 10"/>
          <p:cNvSpPr/>
          <p:nvPr/>
        </p:nvSpPr>
        <p:spPr>
          <a:xfrm>
            <a:off x="731520" y="1691640"/>
            <a:ext cx="5120640"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28800"/>
            <a:ext cx="4754880" cy="4297680"/>
          </a:xfrm>
          <a:prstGeom prst="rect">
            <a:avLst/>
          </a:prstGeom>
          <a:noFill/>
        </p:spPr>
        <p:txBody>
          <a:bodyPr wrap="square">
            <a:spAutoFit/>
          </a:bodyPr>
          <a:lstStyle/>
          <a:p>
            <a:pPr>
              <a:defRPr sz="950" b="1">
                <a:solidFill>
                  <a:srgbClr val="00D382"/>
                </a:solidFill>
                <a:latin typeface="Consolas"/>
              </a:defRPr>
            </a:pPr>
            <a:r>
              <a:t>THE CORE PHILOSOPHY</a:t>
            </a:r>
          </a:p>
          <a:p>
            <a:pPr>
              <a:spcBef>
                <a:spcPts val="600"/>
              </a:spcBef>
              <a:defRPr sz="1700" b="1">
                <a:solidFill>
                  <a:srgbClr val="F8FAFC"/>
                </a:solidFill>
                <a:latin typeface="Segoe UI"/>
              </a:defRPr>
            </a:pPr>
            <a:r>
              <a:t>Don't just predict the grid.</a:t>
            </a:r>
            <a:br/>
            <a:r>
              <a:t>Verify what happens next.</a:t>
            </a:r>
          </a:p>
          <a:p>
            <a:pPr>
              <a:spcBef>
                <a:spcPts val="800"/>
              </a:spcBef>
              <a:defRPr sz="950">
                <a:solidFill>
                  <a:srgbClr val="94A3B8"/>
                </a:solidFill>
                <a:latin typeface="Segoe UI"/>
              </a:defRPr>
            </a:pPr>
            <a:r>
              <a:t>GridSentinal connects predictive intelligence directly to verified action. Instead of treating forecasting as the end product, it wraps every prediction in calibrated uncertainty, audits available flexibility, and challenges candidate decisions before they touch physical hardware.</a:t>
            </a:r>
          </a:p>
          <a:p>
            <a:pPr>
              <a:spcBef>
                <a:spcPts val="1200"/>
              </a:spcBef>
              <a:defRPr sz="900" b="1">
                <a:solidFill>
                  <a:srgbClr val="00E5FF"/>
                </a:solidFill>
                <a:latin typeface="Consolas"/>
              </a:defRPr>
            </a:pPr>
            <a:r>
              <a:t>THE 11-STAGE INTELLIGENCE LIFECYCLE:</a:t>
            </a:r>
          </a:p>
          <a:p>
            <a:pPr>
              <a:spcBef>
                <a:spcPts val="500"/>
              </a:spcBef>
              <a:defRPr sz="850">
                <a:solidFill>
                  <a:srgbClr val="F8FAFC"/>
                </a:solidFill>
                <a:latin typeface="Segoe UI"/>
              </a:defRPr>
            </a:pPr>
            <a:r>
              <a:t>• 01-04  OBSERVE &amp; PREDICT:</a:t>
            </a:r>
            <a:br/>
            <a:r>
              <a:t>   Ingest telemetry, normalize power flows, run multi-expert ensemble, calibrate prediction intervals [OPERATIONAL]</a:t>
            </a:r>
          </a:p>
          <a:p>
            <a:pPr>
              <a:spcBef>
                <a:spcPts val="500"/>
              </a:spcBef>
              <a:defRPr sz="850">
                <a:solidFill>
                  <a:srgbClr val="F8FAFC"/>
                </a:solidFill>
                <a:latin typeface="Segoe UI"/>
              </a:defRPr>
            </a:pPr>
            <a:r>
              <a:t>• 05-07  CHALLENGE &amp; SIMULATE:</a:t>
            </a:r>
            <a:br/>
            <a:r>
              <a:t>   Formulate candidate dispatch, subject to adversarial red-teaming, run digital twin power-flow [DESIGNED]</a:t>
            </a:r>
          </a:p>
          <a:p>
            <a:pPr>
              <a:spcBef>
                <a:spcPts val="500"/>
              </a:spcBef>
              <a:defRPr sz="850">
                <a:solidFill>
                  <a:srgbClr val="F8FAFC"/>
                </a:solidFill>
                <a:latin typeface="Segoe UI"/>
              </a:defRPr>
            </a:pPr>
            <a:r>
              <a:t>• 08-11  ASSURE, ACT &amp; LEARN:</a:t>
            </a:r>
            <a:br/>
            <a:r>
              <a:t>   Decision assurance gate, verified execution, outcome tracking, energy-aware MLOps loop [ROADMAP]</a:t>
            </a:r>
          </a:p>
        </p:txBody>
      </p:sp>
      <p:sp>
        <p:nvSpPr>
          <p:cNvPr id="13" name="Rounded Rectangle 12"/>
          <p:cNvSpPr/>
          <p:nvPr/>
        </p:nvSpPr>
        <p:spPr>
          <a:xfrm>
            <a:off x="6035040" y="1691640"/>
            <a:ext cx="5425135"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i_feeder_card.png"/>
          <p:cNvPicPr>
            <a:picLocks noChangeAspect="1"/>
          </p:cNvPicPr>
          <p:nvPr/>
        </p:nvPicPr>
        <p:blipFill>
          <a:blip r:embed="rId2"/>
          <a:stretch>
            <a:fillRect/>
          </a:stretch>
        </p:blipFill>
        <p:spPr>
          <a:xfrm>
            <a:off x="6172200" y="1874519"/>
            <a:ext cx="5150815" cy="2841829"/>
          </a:xfrm>
          <a:prstGeom prst="rect">
            <a:avLst/>
          </a:prstGeom>
        </p:spPr>
      </p:pic>
      <p:sp>
        <p:nvSpPr>
          <p:cNvPr id="15" name="TextBox 14"/>
          <p:cNvSpPr txBox="1"/>
          <p:nvPr/>
        </p:nvSpPr>
        <p:spPr>
          <a:xfrm>
            <a:off x="6172200" y="5623560"/>
            <a:ext cx="5150815" cy="594360"/>
          </a:xfrm>
          <a:prstGeom prst="rect">
            <a:avLst/>
          </a:prstGeom>
          <a:noFill/>
        </p:spPr>
        <p:txBody>
          <a:bodyPr wrap="square">
            <a:spAutoFit/>
          </a:bodyPr>
          <a:lstStyle/>
          <a:p>
            <a:pPr>
              <a:defRPr sz="819">
                <a:solidFill>
                  <a:srgbClr val="64748B"/>
                </a:solidFill>
                <a:latin typeface="Consolas"/>
              </a:defRPr>
            </a:pPr>
            <a:r>
              <a:t>LIVE OPERATOR CONSOLE: Feeder p1uhs0_1247 (5,196 nodes).</a:t>
            </a:r>
            <a:br/>
            <a:r>
              <a:t>Shaded 90% conformal interval bounding 1h demand forecast with operational verification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04 / SYSTEM ARCHITECTURE</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FROM TELEMETRY TO TRUSTED DECISION.</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A layered, evidence-based pipeline with explicit operational boundaries and zero fake mocks.</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04 / 11 ›</a:t>
            </a:r>
          </a:p>
        </p:txBody>
      </p:sp>
      <p:sp>
        <p:nvSpPr>
          <p:cNvPr id="11" name="Rounded Rectangle 10"/>
          <p:cNvSpPr/>
          <p:nvPr/>
        </p:nvSpPr>
        <p:spPr>
          <a:xfrm>
            <a:off x="731520" y="1691640"/>
            <a:ext cx="2560320" cy="397763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783080"/>
            <a:ext cx="2340864" cy="320040"/>
          </a:xfrm>
          <a:prstGeom prst="rect">
            <a:avLst/>
          </a:prstGeom>
          <a:noFill/>
        </p:spPr>
        <p:txBody>
          <a:bodyPr wrap="none">
            <a:spAutoFit/>
          </a:bodyPr>
          <a:lstStyle/>
          <a:p>
            <a:pPr>
              <a:defRPr sz="819" b="1">
                <a:solidFill>
                  <a:srgbClr val="00D382"/>
                </a:solidFill>
                <a:latin typeface="Consolas"/>
              </a:defRPr>
            </a:pPr>
            <a:r>
              <a:t>LAYER 1: DATA &amp; TELEMETRY</a:t>
            </a:r>
          </a:p>
        </p:txBody>
      </p:sp>
      <p:sp>
        <p:nvSpPr>
          <p:cNvPr id="13" name="Rounded Rectangle 12"/>
          <p:cNvSpPr/>
          <p:nvPr/>
        </p:nvSpPr>
        <p:spPr>
          <a:xfrm>
            <a:off x="841248" y="214884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221992"/>
            <a:ext cx="2194560" cy="1463040"/>
          </a:xfrm>
          <a:prstGeom prst="rect">
            <a:avLst/>
          </a:prstGeom>
          <a:noFill/>
        </p:spPr>
        <p:txBody>
          <a:bodyPr wrap="square">
            <a:spAutoFit/>
          </a:bodyPr>
          <a:lstStyle/>
          <a:p>
            <a:pPr>
              <a:defRPr sz="1000" b="1">
                <a:solidFill>
                  <a:srgbClr val="F8FAFC"/>
                </a:solidFill>
                <a:latin typeface="Segoe UI"/>
              </a:defRPr>
            </a:pPr>
            <a:r>
              <a:t>SMART-DS v1.0 Feeder</a:t>
            </a:r>
          </a:p>
          <a:p>
            <a:pPr>
              <a:spcBef>
                <a:spcPts val="200"/>
              </a:spcBef>
              <a:defRPr sz="780" b="1">
                <a:solidFill>
                  <a:srgbClr val="00D382"/>
                </a:solidFill>
                <a:latin typeface="Consolas"/>
              </a:defRPr>
            </a:pPr>
            <a:r>
              <a:t>[OPERATIONAL]</a:t>
            </a:r>
          </a:p>
          <a:p>
            <a:pPr>
              <a:spcBef>
                <a:spcPts val="300"/>
              </a:spcBef>
              <a:defRPr sz="819">
                <a:solidFill>
                  <a:srgbClr val="94A3B8"/>
                </a:solidFill>
                <a:latin typeface="Segoe UI"/>
              </a:defRPr>
            </a:pPr>
            <a:r>
              <a:t>AUS/P1U 2018 base timeseries; 359 files SHA-256 verified; 35,040 native 15-min points.</a:t>
            </a:r>
          </a:p>
        </p:txBody>
      </p:sp>
      <p:sp>
        <p:nvSpPr>
          <p:cNvPr id="15" name="Rounded Rectangle 14"/>
          <p:cNvSpPr/>
          <p:nvPr/>
        </p:nvSpPr>
        <p:spPr>
          <a:xfrm>
            <a:off x="841248" y="384048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13632"/>
            <a:ext cx="2194560" cy="1463040"/>
          </a:xfrm>
          <a:prstGeom prst="rect">
            <a:avLst/>
          </a:prstGeom>
          <a:noFill/>
        </p:spPr>
        <p:txBody>
          <a:bodyPr wrap="square">
            <a:spAutoFit/>
          </a:bodyPr>
          <a:lstStyle/>
          <a:p>
            <a:pPr>
              <a:defRPr sz="1000" b="1">
                <a:solidFill>
                  <a:srgbClr val="F8FAFC"/>
                </a:solidFill>
                <a:latin typeface="Segoe UI"/>
              </a:defRPr>
            </a:pPr>
            <a:r>
              <a:t>Data Quality &amp; Contract</a:t>
            </a:r>
          </a:p>
          <a:p>
            <a:pPr>
              <a:spcBef>
                <a:spcPts val="200"/>
              </a:spcBef>
              <a:defRPr sz="780" b="1">
                <a:solidFill>
                  <a:srgbClr val="00D382"/>
                </a:solidFill>
                <a:latin typeface="Consolas"/>
              </a:defRPr>
            </a:pPr>
            <a:r>
              <a:t>[OPERATIONAL]</a:t>
            </a:r>
          </a:p>
          <a:p>
            <a:pPr>
              <a:spcBef>
                <a:spcPts val="300"/>
              </a:spcBef>
              <a:defRPr sz="819">
                <a:solidFill>
                  <a:srgbClr val="94A3B8"/>
                </a:solidFill>
                <a:latin typeface="Segoe UI"/>
              </a:defRPr>
            </a:pPr>
            <a:r>
              <a:t>Strict Pydantic domain models; 3.22% physical line loss detected and accounted for; no synthetic filling.</a:t>
            </a:r>
          </a:p>
        </p:txBody>
      </p:sp>
      <p:sp>
        <p:nvSpPr>
          <p:cNvPr id="17" name="TextBox 16"/>
          <p:cNvSpPr txBox="1"/>
          <p:nvPr/>
        </p:nvSpPr>
        <p:spPr>
          <a:xfrm>
            <a:off x="3291840" y="3474720"/>
            <a:ext cx="164592" cy="365760"/>
          </a:xfrm>
          <a:prstGeom prst="rect">
            <a:avLst/>
          </a:prstGeom>
          <a:noFill/>
        </p:spPr>
        <p:txBody>
          <a:bodyPr wrap="none" lIns="0" rIns="0" tIns="0" bIns="0">
            <a:spAutoFit/>
          </a:bodyPr>
          <a:lstStyle/>
          <a:p>
            <a:pPr algn="ctr">
              <a:defRPr sz="1200">
                <a:solidFill>
                  <a:srgbClr val="00D382"/>
                </a:solidFill>
                <a:latin typeface="Segoe UI"/>
              </a:defRPr>
            </a:pPr>
            <a:r>
              <a:t>➔</a:t>
            </a:r>
          </a:p>
        </p:txBody>
      </p:sp>
      <p:sp>
        <p:nvSpPr>
          <p:cNvPr id="18" name="Rounded Rectangle 17"/>
          <p:cNvSpPr/>
          <p:nvPr/>
        </p:nvSpPr>
        <p:spPr>
          <a:xfrm>
            <a:off x="3456432" y="1691640"/>
            <a:ext cx="2560320" cy="397763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1783080"/>
            <a:ext cx="2340864" cy="320040"/>
          </a:xfrm>
          <a:prstGeom prst="rect">
            <a:avLst/>
          </a:prstGeom>
          <a:noFill/>
        </p:spPr>
        <p:txBody>
          <a:bodyPr wrap="none">
            <a:spAutoFit/>
          </a:bodyPr>
          <a:lstStyle/>
          <a:p>
            <a:pPr>
              <a:defRPr sz="819" b="1">
                <a:solidFill>
                  <a:srgbClr val="00E5FF"/>
                </a:solidFill>
                <a:latin typeface="Consolas"/>
              </a:defRPr>
            </a:pPr>
            <a:r>
              <a:t>LAYER 2: PREDICTION &amp; ERROR</a:t>
            </a:r>
          </a:p>
        </p:txBody>
      </p:sp>
      <p:sp>
        <p:nvSpPr>
          <p:cNvPr id="20" name="Rounded Rectangle 19"/>
          <p:cNvSpPr/>
          <p:nvPr/>
        </p:nvSpPr>
        <p:spPr>
          <a:xfrm>
            <a:off x="3566160" y="214884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9312" y="2221992"/>
            <a:ext cx="2194560" cy="1463040"/>
          </a:xfrm>
          <a:prstGeom prst="rect">
            <a:avLst/>
          </a:prstGeom>
          <a:noFill/>
        </p:spPr>
        <p:txBody>
          <a:bodyPr wrap="square">
            <a:spAutoFit/>
          </a:bodyPr>
          <a:lstStyle/>
          <a:p>
            <a:pPr>
              <a:defRPr sz="1000" b="1">
                <a:solidFill>
                  <a:srgbClr val="F8FAFC"/>
                </a:solidFill>
                <a:latin typeface="Segoe UI"/>
              </a:defRPr>
            </a:pPr>
            <a:r>
              <a:t>Heterogeneous Ensemble</a:t>
            </a:r>
          </a:p>
          <a:p>
            <a:pPr>
              <a:spcBef>
                <a:spcPts val="200"/>
              </a:spcBef>
              <a:defRPr sz="780" b="1">
                <a:solidFill>
                  <a:srgbClr val="00D382"/>
                </a:solidFill>
                <a:latin typeface="Consolas"/>
              </a:defRPr>
            </a:pPr>
            <a:r>
              <a:t>[OPERATIONAL]</a:t>
            </a:r>
          </a:p>
          <a:p>
            <a:pPr>
              <a:spcBef>
                <a:spcPts val="300"/>
              </a:spcBef>
              <a:defRPr sz="819">
                <a:solidFill>
                  <a:srgbClr val="94A3B8"/>
                </a:solidFill>
                <a:latin typeface="Segoe UI"/>
              </a:defRPr>
            </a:pPr>
            <a:r>
              <a:t>Fixed ensemble (Persistence, Hist-GBM, Temporal TCN) beats learned router across all horizons (0.398 kW at h=1).</a:t>
            </a:r>
          </a:p>
        </p:txBody>
      </p:sp>
      <p:sp>
        <p:nvSpPr>
          <p:cNvPr id="22" name="Rounded Rectangle 21"/>
          <p:cNvSpPr/>
          <p:nvPr/>
        </p:nvSpPr>
        <p:spPr>
          <a:xfrm>
            <a:off x="3566160" y="384048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3913632"/>
            <a:ext cx="2194560" cy="1463040"/>
          </a:xfrm>
          <a:prstGeom prst="rect">
            <a:avLst/>
          </a:prstGeom>
          <a:noFill/>
        </p:spPr>
        <p:txBody>
          <a:bodyPr wrap="square">
            <a:spAutoFit/>
          </a:bodyPr>
          <a:lstStyle/>
          <a:p>
            <a:pPr>
              <a:defRPr sz="1000" b="1">
                <a:solidFill>
                  <a:srgbClr val="F8FAFC"/>
                </a:solidFill>
                <a:latin typeface="Segoe UI"/>
              </a:defRPr>
            </a:pPr>
            <a:r>
              <a:t>Calibrated Uncertainty</a:t>
            </a:r>
          </a:p>
          <a:p>
            <a:pPr>
              <a:spcBef>
                <a:spcPts val="200"/>
              </a:spcBef>
              <a:defRPr sz="780" b="1">
                <a:solidFill>
                  <a:srgbClr val="00D382"/>
                </a:solidFill>
                <a:latin typeface="Consolas"/>
              </a:defRPr>
            </a:pPr>
            <a:r>
              <a:t>[OPERATIONAL]</a:t>
            </a:r>
          </a:p>
          <a:p>
            <a:pPr>
              <a:spcBef>
                <a:spcPts val="300"/>
              </a:spcBef>
              <a:defRPr sz="819">
                <a:solidFill>
                  <a:srgbClr val="94A3B8"/>
                </a:solidFill>
                <a:latin typeface="Segoe UI"/>
              </a:defRPr>
            </a:pPr>
            <a:r>
              <a:t>Split-conformal intervals on CAL_CONF; empirical coverage within ±0.01 at h=1, h=4, h=96 on sealed test.</a:t>
            </a:r>
          </a:p>
        </p:txBody>
      </p:sp>
      <p:sp>
        <p:nvSpPr>
          <p:cNvPr id="24" name="TextBox 23"/>
          <p:cNvSpPr txBox="1"/>
          <p:nvPr/>
        </p:nvSpPr>
        <p:spPr>
          <a:xfrm>
            <a:off x="6016752" y="3474720"/>
            <a:ext cx="164592" cy="365760"/>
          </a:xfrm>
          <a:prstGeom prst="rect">
            <a:avLst/>
          </a:prstGeom>
          <a:noFill/>
        </p:spPr>
        <p:txBody>
          <a:bodyPr wrap="none" lIns="0" rIns="0" tIns="0" bIns="0">
            <a:spAutoFit/>
          </a:bodyPr>
          <a:lstStyle/>
          <a:p>
            <a:pPr algn="ctr">
              <a:defRPr sz="1200">
                <a:solidFill>
                  <a:srgbClr val="00D382"/>
                </a:solidFill>
                <a:latin typeface="Segoe UI"/>
              </a:defRPr>
            </a:pPr>
            <a:r>
              <a:t>➔</a:t>
            </a:r>
          </a:p>
        </p:txBody>
      </p:sp>
      <p:sp>
        <p:nvSpPr>
          <p:cNvPr id="25" name="Rounded Rectangle 24"/>
          <p:cNvSpPr/>
          <p:nvPr/>
        </p:nvSpPr>
        <p:spPr>
          <a:xfrm>
            <a:off x="6181344" y="1691640"/>
            <a:ext cx="2560320" cy="397763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1072" y="1783080"/>
            <a:ext cx="2340864" cy="320040"/>
          </a:xfrm>
          <a:prstGeom prst="rect">
            <a:avLst/>
          </a:prstGeom>
          <a:noFill/>
        </p:spPr>
        <p:txBody>
          <a:bodyPr wrap="none">
            <a:spAutoFit/>
          </a:bodyPr>
          <a:lstStyle/>
          <a:p>
            <a:pPr>
              <a:defRPr sz="819" b="1">
                <a:solidFill>
                  <a:srgbClr val="F59E0B"/>
                </a:solidFill>
                <a:latin typeface="Consolas"/>
              </a:defRPr>
            </a:pPr>
            <a:r>
              <a:t>LAYER 3: FLEXIBILITY &amp; PROXY</a:t>
            </a:r>
          </a:p>
        </p:txBody>
      </p:sp>
      <p:sp>
        <p:nvSpPr>
          <p:cNvPr id="27" name="Rounded Rectangle 26"/>
          <p:cNvSpPr/>
          <p:nvPr/>
        </p:nvSpPr>
        <p:spPr>
          <a:xfrm>
            <a:off x="6291072" y="214884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2221992"/>
            <a:ext cx="2194560" cy="1463040"/>
          </a:xfrm>
          <a:prstGeom prst="rect">
            <a:avLst/>
          </a:prstGeom>
          <a:noFill/>
        </p:spPr>
        <p:txBody>
          <a:bodyPr wrap="square">
            <a:spAutoFit/>
          </a:bodyPr>
          <a:lstStyle/>
          <a:p>
            <a:pPr>
              <a:defRPr sz="1000" b="1">
                <a:solidFill>
                  <a:srgbClr val="F8FAFC"/>
                </a:solidFill>
                <a:latin typeface="Segoe UI"/>
              </a:defRPr>
            </a:pPr>
            <a:r>
              <a:t>Flexibility Capability Audit</a:t>
            </a:r>
          </a:p>
          <a:p>
            <a:pPr>
              <a:spcBef>
                <a:spcPts val="200"/>
              </a:spcBef>
              <a:defRPr sz="780" b="1">
                <a:solidFill>
                  <a:srgbClr val="00D382"/>
                </a:solidFill>
                <a:latin typeface="Consolas"/>
              </a:defRPr>
            </a:pPr>
            <a:r>
              <a:t>[OPERATIONAL]</a:t>
            </a:r>
          </a:p>
          <a:p>
            <a:pPr>
              <a:spcBef>
                <a:spcPts val="300"/>
              </a:spcBef>
              <a:defRPr sz="819">
                <a:solidFill>
                  <a:srgbClr val="94A3B8"/>
                </a:solidFill>
                <a:latin typeface="Segoe UI"/>
              </a:defRPr>
            </a:pPr>
            <a:r>
              <a:t>0/8 dimensions physically supported in SMART-DS; battery dispatch unavailable (G-01); all gaps documented.</a:t>
            </a:r>
          </a:p>
        </p:txBody>
      </p:sp>
      <p:sp>
        <p:nvSpPr>
          <p:cNvPr id="29" name="Rounded Rectangle 28"/>
          <p:cNvSpPr/>
          <p:nvPr/>
        </p:nvSpPr>
        <p:spPr>
          <a:xfrm>
            <a:off x="6291072" y="384048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3913632"/>
            <a:ext cx="2194560" cy="1463040"/>
          </a:xfrm>
          <a:prstGeom prst="rect">
            <a:avLst/>
          </a:prstGeom>
          <a:noFill/>
        </p:spPr>
        <p:txBody>
          <a:bodyPr wrap="square">
            <a:spAutoFit/>
          </a:bodyPr>
          <a:lstStyle/>
          <a:p>
            <a:pPr>
              <a:defRPr sz="1000" b="1">
                <a:solidFill>
                  <a:srgbClr val="F8FAFC"/>
                </a:solidFill>
                <a:latin typeface="Segoe UI"/>
              </a:defRPr>
            </a:pPr>
            <a:r>
              <a:t>Behavioural Envelope</a:t>
            </a:r>
          </a:p>
          <a:p>
            <a:pPr>
              <a:spcBef>
                <a:spcPts val="200"/>
              </a:spcBef>
              <a:defRPr sz="780" b="1">
                <a:solidFill>
                  <a:srgbClr val="F59E0B"/>
                </a:solidFill>
                <a:latin typeface="Consolas"/>
              </a:defRPr>
            </a:pPr>
            <a:r>
              <a:t>[STATISTICAL PROXY]</a:t>
            </a:r>
          </a:p>
          <a:p>
            <a:pPr>
              <a:spcBef>
                <a:spcPts val="300"/>
              </a:spcBef>
              <a:defRPr sz="819">
                <a:solidFill>
                  <a:srgbClr val="94A3B8"/>
                </a:solidFill>
                <a:latin typeface="Segoe UI"/>
              </a:defRPr>
            </a:pPr>
            <a:r>
              <a:t>Empirical variation bounds (±2.73 kW at h=1 to ±14.12 kW at h=96); scheduler control strictly forbidden.</a:t>
            </a:r>
          </a:p>
        </p:txBody>
      </p:sp>
      <p:sp>
        <p:nvSpPr>
          <p:cNvPr id="31" name="TextBox 30"/>
          <p:cNvSpPr txBox="1"/>
          <p:nvPr/>
        </p:nvSpPr>
        <p:spPr>
          <a:xfrm>
            <a:off x="8741664" y="3474720"/>
            <a:ext cx="164592" cy="365760"/>
          </a:xfrm>
          <a:prstGeom prst="rect">
            <a:avLst/>
          </a:prstGeom>
          <a:noFill/>
        </p:spPr>
        <p:txBody>
          <a:bodyPr wrap="none" lIns="0" rIns="0" tIns="0" bIns="0">
            <a:spAutoFit/>
          </a:bodyPr>
          <a:lstStyle/>
          <a:p>
            <a:pPr algn="ctr">
              <a:defRPr sz="1200">
                <a:solidFill>
                  <a:srgbClr val="00D382"/>
                </a:solidFill>
                <a:latin typeface="Segoe UI"/>
              </a:defRPr>
            </a:pPr>
            <a:r>
              <a:t>➔</a:t>
            </a:r>
          </a:p>
        </p:txBody>
      </p:sp>
      <p:sp>
        <p:nvSpPr>
          <p:cNvPr id="32" name="Rounded Rectangle 31"/>
          <p:cNvSpPr/>
          <p:nvPr/>
        </p:nvSpPr>
        <p:spPr>
          <a:xfrm>
            <a:off x="8906256" y="1691640"/>
            <a:ext cx="2560320" cy="3977639"/>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15984" y="1783080"/>
            <a:ext cx="2340864" cy="320040"/>
          </a:xfrm>
          <a:prstGeom prst="rect">
            <a:avLst/>
          </a:prstGeom>
          <a:noFill/>
        </p:spPr>
        <p:txBody>
          <a:bodyPr wrap="none">
            <a:spAutoFit/>
          </a:bodyPr>
          <a:lstStyle/>
          <a:p>
            <a:pPr>
              <a:defRPr sz="819" b="1">
                <a:solidFill>
                  <a:srgbClr val="38BDF8"/>
                </a:solidFill>
                <a:latin typeface="Consolas"/>
              </a:defRPr>
            </a:pPr>
            <a:r>
              <a:t>LAYER 4: DECISION &amp; ASSURANCE</a:t>
            </a:r>
          </a:p>
        </p:txBody>
      </p:sp>
      <p:sp>
        <p:nvSpPr>
          <p:cNvPr id="34" name="Rounded Rectangle 33"/>
          <p:cNvSpPr/>
          <p:nvPr/>
        </p:nvSpPr>
        <p:spPr>
          <a:xfrm>
            <a:off x="9015984" y="214884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89136" y="2221992"/>
            <a:ext cx="2194560" cy="1463040"/>
          </a:xfrm>
          <a:prstGeom prst="rect">
            <a:avLst/>
          </a:prstGeom>
          <a:noFill/>
        </p:spPr>
        <p:txBody>
          <a:bodyPr wrap="square">
            <a:spAutoFit/>
          </a:bodyPr>
          <a:lstStyle/>
          <a:p>
            <a:pPr>
              <a:defRPr sz="1000" b="1">
                <a:solidFill>
                  <a:srgbClr val="F8FAFC"/>
                </a:solidFill>
                <a:latin typeface="Segoe UI"/>
              </a:defRPr>
            </a:pPr>
            <a:r>
              <a:t>Optimization &amp; Red Team</a:t>
            </a:r>
          </a:p>
          <a:p>
            <a:pPr>
              <a:spcBef>
                <a:spcPts val="200"/>
              </a:spcBef>
              <a:defRPr sz="780" b="1">
                <a:solidFill>
                  <a:srgbClr val="00E5FF"/>
                </a:solidFill>
                <a:latin typeface="Consolas"/>
              </a:defRPr>
            </a:pPr>
            <a:r>
              <a:t>[DESIGNED]</a:t>
            </a:r>
          </a:p>
          <a:p>
            <a:pPr>
              <a:spcBef>
                <a:spcPts val="300"/>
              </a:spcBef>
              <a:defRPr sz="819">
                <a:solidFill>
                  <a:srgbClr val="94A3B8"/>
                </a:solidFill>
                <a:latin typeface="Segoe UI"/>
              </a:defRPr>
            </a:pPr>
            <a:r>
              <a:t>Multi-objective candidate actions attacked under stress scenarios (solar ramp, EV spike, telemetry delay).</a:t>
            </a:r>
          </a:p>
        </p:txBody>
      </p:sp>
      <p:sp>
        <p:nvSpPr>
          <p:cNvPr id="36" name="Rounded Rectangle 35"/>
          <p:cNvSpPr/>
          <p:nvPr/>
        </p:nvSpPr>
        <p:spPr>
          <a:xfrm>
            <a:off x="9015984" y="3840480"/>
            <a:ext cx="2340864" cy="1600200"/>
          </a:xfrm>
          <a:prstGeom prst="roundRect">
            <a:avLst/>
          </a:prstGeom>
          <a:solidFill>
            <a:srgbClr val="09121C"/>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89136" y="3913632"/>
            <a:ext cx="2194560" cy="1463040"/>
          </a:xfrm>
          <a:prstGeom prst="rect">
            <a:avLst/>
          </a:prstGeom>
          <a:noFill/>
        </p:spPr>
        <p:txBody>
          <a:bodyPr wrap="square">
            <a:spAutoFit/>
          </a:bodyPr>
          <a:lstStyle/>
          <a:p>
            <a:pPr>
              <a:defRPr sz="1000" b="1">
                <a:solidFill>
                  <a:srgbClr val="F8FAFC"/>
                </a:solidFill>
                <a:latin typeface="Segoe UI"/>
              </a:defRPr>
            </a:pPr>
            <a:r>
              <a:t>Digital Twin &amp; Assurance</a:t>
            </a:r>
          </a:p>
          <a:p>
            <a:pPr>
              <a:spcBef>
                <a:spcPts val="200"/>
              </a:spcBef>
              <a:defRPr sz="780" b="1">
                <a:solidFill>
                  <a:srgbClr val="00E5FF"/>
                </a:solidFill>
                <a:latin typeface="Consolas"/>
              </a:defRPr>
            </a:pPr>
            <a:r>
              <a:t>[ROADMAP]</a:t>
            </a:r>
          </a:p>
          <a:p>
            <a:pPr>
              <a:spcBef>
                <a:spcPts val="300"/>
              </a:spcBef>
              <a:defRPr sz="819">
                <a:solidFill>
                  <a:srgbClr val="94A3B8"/>
                </a:solidFill>
                <a:latin typeface="Segoe UI"/>
              </a:defRPr>
            </a:pPr>
            <a:r>
              <a:t>OpenDSS power flow validation; assurance gate approves/rejects before physical execution touches hardware.</a:t>
            </a:r>
          </a:p>
        </p:txBody>
      </p:sp>
      <p:sp>
        <p:nvSpPr>
          <p:cNvPr id="38" name="Rounded Rectangle 37"/>
          <p:cNvSpPr/>
          <p:nvPr/>
        </p:nvSpPr>
        <p:spPr>
          <a:xfrm>
            <a:off x="731520" y="5760720"/>
            <a:ext cx="10728655" cy="548640"/>
          </a:xfrm>
          <a:prstGeom prst="roundRect">
            <a:avLst/>
          </a:prstGeom>
          <a:solidFill>
            <a:srgbClr val="09121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797296"/>
            <a:ext cx="10362895" cy="475488"/>
          </a:xfrm>
          <a:prstGeom prst="rect">
            <a:avLst/>
          </a:prstGeom>
          <a:noFill/>
        </p:spPr>
        <p:txBody>
          <a:bodyPr wrap="square">
            <a:spAutoFit/>
          </a:bodyPr>
          <a:lstStyle/>
          <a:p>
            <a:pPr>
              <a:defRPr sz="819">
                <a:solidFill>
                  <a:srgbClr val="F8FAFC"/>
                </a:solidFill>
                <a:latin typeface="Consolas"/>
              </a:defRPr>
            </a:pPr>
            <a:r>
              <a:t>ARCHITECTURAL INTEGRITY COMMITMENT: Learned models (Forecaster, Uncertainty) are separated from orchestrating agents (Red Team, Drift). Subpackages are created only when implemented — no empty stubs or simulated mocks.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05 / PROBABILISTIC INTELLIGENCE</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A FORECAST WITHOUT UNCERTAINTY IS HALF A FORECAST.</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Point predictions fail silently; calibrated intervals identify exactly which rows must not be trusted.</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05 / 11 ›</a:t>
            </a:r>
          </a:p>
        </p:txBody>
      </p:sp>
      <p:sp>
        <p:nvSpPr>
          <p:cNvPr id="11" name="Rounded Rectangle 10"/>
          <p:cNvSpPr/>
          <p:nvPr/>
        </p:nvSpPr>
        <p:spPr>
          <a:xfrm>
            <a:off x="731520" y="1691640"/>
            <a:ext cx="5303520"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83080"/>
            <a:ext cx="4937760" cy="640080"/>
          </a:xfrm>
          <a:prstGeom prst="rect">
            <a:avLst/>
          </a:prstGeom>
          <a:noFill/>
        </p:spPr>
        <p:txBody>
          <a:bodyPr wrap="square">
            <a:spAutoFit/>
          </a:bodyPr>
          <a:lstStyle/>
          <a:p>
            <a:pPr>
              <a:defRPr sz="900" b="1">
                <a:solidFill>
                  <a:srgbClr val="00D382"/>
                </a:solidFill>
                <a:latin typeface="Consolas"/>
              </a:defRPr>
            </a:pPr>
            <a:r>
              <a:t>PHASE 8 EMPIRICAL EVIDENCE (SEALED TEST, 179,520 ROWS)</a:t>
            </a:r>
          </a:p>
          <a:p>
            <a:pPr>
              <a:spcBef>
                <a:spcPts val="300"/>
              </a:spcBef>
              <a:defRPr sz="880">
                <a:solidFill>
                  <a:srgbClr val="94A3B8"/>
                </a:solidFill>
                <a:latin typeface="Segoe UI"/>
              </a:defRPr>
            </a:pPr>
            <a:r>
              <a:t>Evaluated on sealed chronological test split without data leakage:</a:t>
            </a:r>
          </a:p>
        </p:txBody>
      </p:sp>
      <p:graphicFrame>
        <p:nvGraphicFramePr>
          <p:cNvPr id="13" name="Table 12"/>
          <p:cNvGraphicFramePr>
            <a:graphicFrameLocks noGrp="1"/>
          </p:cNvGraphicFramePr>
          <p:nvPr/>
        </p:nvGraphicFramePr>
        <p:xfrm>
          <a:off x="914400" y="2423160"/>
          <a:ext cx="4937760" cy="1600200"/>
        </p:xfrm>
        <a:graphic>
          <a:graphicData uri="http://schemas.openxmlformats.org/drawingml/2006/table">
            <a:tbl>
              <a:tblPr firstRow="1" bandRow="1">
                <a:tableStyleId>{5C22544A-7EE6-4342-B048-85BDC9FD1C3A}</a:tableStyleId>
              </a:tblPr>
              <a:tblGrid>
                <a:gridCol w="1005840"/>
                <a:gridCol w="1371600"/>
                <a:gridCol w="822960"/>
                <a:gridCol w="731520"/>
                <a:gridCol w="1005840"/>
              </a:tblGrid>
              <a:tr h="400050">
                <a:tc>
                  <a:txBody>
                    <a:bodyPr/>
                    <a:lstStyle/>
                    <a:p>
                      <a:pPr algn="l">
                        <a:defRPr sz="780" b="1">
                          <a:solidFill>
                            <a:srgbClr val="00E5FF"/>
                          </a:solidFill>
                          <a:latin typeface="Consolas"/>
                        </a:defRPr>
                      </a:pPr>
                      <a:r>
                        <a:t>Horizon</a:t>
                      </a:r>
                    </a:p>
                  </a:txBody>
                  <a:tcPr>
                    <a:solidFill>
                      <a:srgbClr val="112433"/>
                    </a:solidFill>
                  </a:tcPr>
                </a:tc>
                <a:tc>
                  <a:txBody>
                    <a:bodyPr/>
                    <a:lstStyle/>
                    <a:p>
                      <a:pPr algn="ctr">
                        <a:defRPr sz="780" b="1">
                          <a:solidFill>
                            <a:srgbClr val="00E5FF"/>
                          </a:solidFill>
                          <a:latin typeface="Consolas"/>
                        </a:defRPr>
                      </a:pPr>
                      <a:r>
                        <a:t>Published Method</a:t>
                      </a:r>
                    </a:p>
                  </a:txBody>
                  <a:tcPr>
                    <a:solidFill>
                      <a:srgbClr val="112433"/>
                    </a:solidFill>
                  </a:tcPr>
                </a:tc>
                <a:tc>
                  <a:txBody>
                    <a:bodyPr/>
                    <a:lstStyle/>
                    <a:p>
                      <a:pPr algn="ctr">
                        <a:defRPr sz="780" b="1">
                          <a:solidFill>
                            <a:srgbClr val="00E5FF"/>
                          </a:solidFill>
                          <a:latin typeface="Consolas"/>
                        </a:defRPr>
                      </a:pPr>
                      <a:r>
                        <a:t>Cov @90%</a:t>
                      </a:r>
                    </a:p>
                  </a:txBody>
                  <a:tcPr>
                    <a:solidFill>
                      <a:srgbClr val="112433"/>
                    </a:solidFill>
                  </a:tcPr>
                </a:tc>
                <a:tc>
                  <a:txBody>
                    <a:bodyPr/>
                    <a:lstStyle/>
                    <a:p>
                      <a:pPr algn="ctr">
                        <a:defRPr sz="780" b="1">
                          <a:solidFill>
                            <a:srgbClr val="00E5FF"/>
                          </a:solidFill>
                          <a:latin typeface="Consolas"/>
                        </a:defRPr>
                      </a:pPr>
                      <a:r>
                        <a:t>Corr ρ</a:t>
                      </a:r>
                    </a:p>
                  </a:txBody>
                  <a:tcPr>
                    <a:solidFill>
                      <a:srgbClr val="112433"/>
                    </a:solidFill>
                  </a:tcPr>
                </a:tc>
                <a:tc>
                  <a:txBody>
                    <a:bodyPr/>
                    <a:lstStyle/>
                    <a:p>
                      <a:pPr algn="ctr">
                        <a:defRPr sz="780" b="1">
                          <a:solidFill>
                            <a:srgbClr val="00E5FF"/>
                          </a:solidFill>
                          <a:latin typeface="Consolas"/>
                        </a:defRPr>
                      </a:pPr>
                      <a:r>
                        <a:t>Top Decile</a:t>
                      </a:r>
                    </a:p>
                  </a:txBody>
                  <a:tcPr>
                    <a:solidFill>
                      <a:srgbClr val="112433"/>
                    </a:solidFill>
                  </a:tcPr>
                </a:tc>
              </a:tr>
              <a:tr h="400050">
                <a:tc>
                  <a:txBody>
                    <a:bodyPr/>
                    <a:lstStyle/>
                    <a:p>
                      <a:pPr algn="l">
                        <a:defRPr sz="800" b="1">
                          <a:solidFill>
                            <a:srgbClr val="F8FAFC"/>
                          </a:solidFill>
                          <a:latin typeface="Consolas"/>
                        </a:defRPr>
                      </a:pPr>
                      <a:r>
                        <a:t>h = 1 (15m)</a:t>
                      </a:r>
                    </a:p>
                  </a:txBody>
                  <a:tcPr>
                    <a:solidFill>
                      <a:srgbClr val="09121C"/>
                    </a:solidFill>
                  </a:tcPr>
                </a:tc>
                <a:tc>
                  <a:txBody>
                    <a:bodyPr/>
                    <a:lstStyle/>
                    <a:p>
                      <a:pPr algn="ctr">
                        <a:defRPr sz="800" b="0">
                          <a:solidFill>
                            <a:srgbClr val="F8FAFC"/>
                          </a:solidFill>
                          <a:latin typeface="Consolas"/>
                        </a:defRPr>
                      </a:pPr>
                      <a:r>
                        <a:t>conformal_state</a:t>
                      </a:r>
                    </a:p>
                  </a:txBody>
                  <a:tcPr>
                    <a:solidFill>
                      <a:srgbClr val="09121C"/>
                    </a:solidFill>
                  </a:tcPr>
                </a:tc>
                <a:tc>
                  <a:txBody>
                    <a:bodyPr/>
                    <a:lstStyle/>
                    <a:p>
                      <a:pPr algn="ctr">
                        <a:defRPr sz="800" b="1">
                          <a:solidFill>
                            <a:srgbClr val="00D382"/>
                          </a:solidFill>
                          <a:latin typeface="Consolas"/>
                        </a:defRPr>
                      </a:pPr>
                      <a:r>
                        <a:t>90.20%</a:t>
                      </a:r>
                    </a:p>
                  </a:txBody>
                  <a:tcPr>
                    <a:solidFill>
                      <a:srgbClr val="09121C"/>
                    </a:solidFill>
                  </a:tcPr>
                </a:tc>
                <a:tc>
                  <a:txBody>
                    <a:bodyPr/>
                    <a:lstStyle/>
                    <a:p>
                      <a:pPr algn="ctr">
                        <a:defRPr sz="800" b="0">
                          <a:solidFill>
                            <a:srgbClr val="F8FAFC"/>
                          </a:solidFill>
                          <a:latin typeface="Consolas"/>
                        </a:defRPr>
                      </a:pPr>
                      <a:r>
                        <a:t>+0.709</a:t>
                      </a:r>
                    </a:p>
                  </a:txBody>
                  <a:tcPr>
                    <a:solidFill>
                      <a:srgbClr val="09121C"/>
                    </a:solidFill>
                  </a:tcPr>
                </a:tc>
                <a:tc>
                  <a:txBody>
                    <a:bodyPr/>
                    <a:lstStyle/>
                    <a:p>
                      <a:pPr algn="ctr">
                        <a:defRPr sz="800" b="0">
                          <a:solidFill>
                            <a:srgbClr val="F8FAFC"/>
                          </a:solidFill>
                          <a:latin typeface="Consolas"/>
                        </a:defRPr>
                      </a:pPr>
                      <a:r>
                        <a:t>4.61× err</a:t>
                      </a:r>
                    </a:p>
                  </a:txBody>
                  <a:tcPr>
                    <a:solidFill>
                      <a:srgbClr val="09121C"/>
                    </a:solidFill>
                  </a:tcPr>
                </a:tc>
              </a:tr>
              <a:tr h="400050">
                <a:tc>
                  <a:txBody>
                    <a:bodyPr/>
                    <a:lstStyle/>
                    <a:p>
                      <a:pPr algn="l">
                        <a:defRPr sz="800" b="1">
                          <a:solidFill>
                            <a:srgbClr val="F8FAFC"/>
                          </a:solidFill>
                          <a:latin typeface="Consolas"/>
                        </a:defRPr>
                      </a:pPr>
                      <a:r>
                        <a:t>h = 4 (1h)</a:t>
                      </a:r>
                    </a:p>
                  </a:txBody>
                  <a:tcPr>
                    <a:solidFill>
                      <a:srgbClr val="0A1622"/>
                    </a:solidFill>
                  </a:tcPr>
                </a:tc>
                <a:tc>
                  <a:txBody>
                    <a:bodyPr/>
                    <a:lstStyle/>
                    <a:p>
                      <a:pPr algn="ctr">
                        <a:defRPr sz="800" b="0">
                          <a:solidFill>
                            <a:srgbClr val="F8FAFC"/>
                          </a:solidFill>
                          <a:latin typeface="Consolas"/>
                        </a:defRPr>
                      </a:pPr>
                      <a:r>
                        <a:t>conformal_state</a:t>
                      </a:r>
                    </a:p>
                  </a:txBody>
                  <a:tcPr>
                    <a:solidFill>
                      <a:srgbClr val="0A1622"/>
                    </a:solidFill>
                  </a:tcPr>
                </a:tc>
                <a:tc>
                  <a:txBody>
                    <a:bodyPr/>
                    <a:lstStyle/>
                    <a:p>
                      <a:pPr algn="ctr">
                        <a:defRPr sz="800" b="1">
                          <a:solidFill>
                            <a:srgbClr val="00D382"/>
                          </a:solidFill>
                          <a:latin typeface="Consolas"/>
                        </a:defRPr>
                      </a:pPr>
                      <a:r>
                        <a:t>89.73%</a:t>
                      </a:r>
                    </a:p>
                  </a:txBody>
                  <a:tcPr>
                    <a:solidFill>
                      <a:srgbClr val="0A1622"/>
                    </a:solidFill>
                  </a:tcPr>
                </a:tc>
                <a:tc>
                  <a:txBody>
                    <a:bodyPr/>
                    <a:lstStyle/>
                    <a:p>
                      <a:pPr algn="ctr">
                        <a:defRPr sz="800" b="0">
                          <a:solidFill>
                            <a:srgbClr val="F8FAFC"/>
                          </a:solidFill>
                          <a:latin typeface="Consolas"/>
                        </a:defRPr>
                      </a:pPr>
                      <a:r>
                        <a:t>+0.673</a:t>
                      </a:r>
                    </a:p>
                  </a:txBody>
                  <a:tcPr>
                    <a:solidFill>
                      <a:srgbClr val="0A1622"/>
                    </a:solidFill>
                  </a:tcPr>
                </a:tc>
                <a:tc>
                  <a:txBody>
                    <a:bodyPr/>
                    <a:lstStyle/>
                    <a:p>
                      <a:pPr algn="ctr">
                        <a:defRPr sz="800" b="0">
                          <a:solidFill>
                            <a:srgbClr val="F8FAFC"/>
                          </a:solidFill>
                          <a:latin typeface="Consolas"/>
                        </a:defRPr>
                      </a:pPr>
                      <a:r>
                        <a:t>4.21× err</a:t>
                      </a:r>
                    </a:p>
                  </a:txBody>
                  <a:tcPr>
                    <a:solidFill>
                      <a:srgbClr val="0A1622"/>
                    </a:solidFill>
                  </a:tcPr>
                </a:tc>
              </a:tr>
              <a:tr h="400050">
                <a:tc>
                  <a:txBody>
                    <a:bodyPr/>
                    <a:lstStyle/>
                    <a:p>
                      <a:pPr algn="l">
                        <a:defRPr sz="800" b="1">
                          <a:solidFill>
                            <a:srgbClr val="F8FAFC"/>
                          </a:solidFill>
                          <a:latin typeface="Consolas"/>
                        </a:defRPr>
                      </a:pPr>
                      <a:r>
                        <a:t>h = 96 (24h)</a:t>
                      </a:r>
                    </a:p>
                  </a:txBody>
                  <a:tcPr>
                    <a:solidFill>
                      <a:srgbClr val="09121C"/>
                    </a:solidFill>
                  </a:tcPr>
                </a:tc>
                <a:tc>
                  <a:txBody>
                    <a:bodyPr/>
                    <a:lstStyle/>
                    <a:p>
                      <a:pPr algn="ctr">
                        <a:defRPr sz="800" b="0">
                          <a:solidFill>
                            <a:srgbClr val="F8FAFC"/>
                          </a:solidFill>
                          <a:latin typeface="Consolas"/>
                        </a:defRPr>
                      </a:pPr>
                      <a:r>
                        <a:t>conformal_dispersion</a:t>
                      </a:r>
                    </a:p>
                  </a:txBody>
                  <a:tcPr>
                    <a:solidFill>
                      <a:srgbClr val="09121C"/>
                    </a:solidFill>
                  </a:tcPr>
                </a:tc>
                <a:tc>
                  <a:txBody>
                    <a:bodyPr/>
                    <a:lstStyle/>
                    <a:p>
                      <a:pPr algn="ctr">
                        <a:defRPr sz="800" b="1">
                          <a:solidFill>
                            <a:srgbClr val="00D382"/>
                          </a:solidFill>
                          <a:latin typeface="Consolas"/>
                        </a:defRPr>
                      </a:pPr>
                      <a:r>
                        <a:t>89.34%</a:t>
                      </a:r>
                    </a:p>
                  </a:txBody>
                  <a:tcPr>
                    <a:solidFill>
                      <a:srgbClr val="09121C"/>
                    </a:solidFill>
                  </a:tcPr>
                </a:tc>
                <a:tc>
                  <a:txBody>
                    <a:bodyPr/>
                    <a:lstStyle/>
                    <a:p>
                      <a:pPr algn="ctr">
                        <a:defRPr sz="800" b="0">
                          <a:solidFill>
                            <a:srgbClr val="F8FAFC"/>
                          </a:solidFill>
                          <a:latin typeface="Consolas"/>
                        </a:defRPr>
                      </a:pPr>
                      <a:r>
                        <a:t>+0.658</a:t>
                      </a:r>
                    </a:p>
                  </a:txBody>
                  <a:tcPr>
                    <a:solidFill>
                      <a:srgbClr val="09121C"/>
                    </a:solidFill>
                  </a:tcPr>
                </a:tc>
                <a:tc>
                  <a:txBody>
                    <a:bodyPr/>
                    <a:lstStyle/>
                    <a:p>
                      <a:pPr algn="ctr">
                        <a:defRPr sz="800" b="0">
                          <a:solidFill>
                            <a:srgbClr val="F8FAFC"/>
                          </a:solidFill>
                          <a:latin typeface="Consolas"/>
                        </a:defRPr>
                      </a:pPr>
                      <a:r>
                        <a:t>4.80× err</a:t>
                      </a:r>
                    </a:p>
                  </a:txBody>
                  <a:tcPr>
                    <a:solidFill>
                      <a:srgbClr val="09121C"/>
                    </a:solidFill>
                  </a:tcPr>
                </a:tc>
              </a:tr>
            </a:tbl>
          </a:graphicData>
        </a:graphic>
      </p:graphicFrame>
      <p:sp>
        <p:nvSpPr>
          <p:cNvPr id="14" name="TextBox 13"/>
          <p:cNvSpPr txBox="1"/>
          <p:nvPr/>
        </p:nvSpPr>
        <p:spPr>
          <a:xfrm>
            <a:off x="914400" y="4160520"/>
            <a:ext cx="4937760" cy="2011680"/>
          </a:xfrm>
          <a:prstGeom prst="rect">
            <a:avLst/>
          </a:prstGeom>
          <a:noFill/>
        </p:spPr>
        <p:txBody>
          <a:bodyPr wrap="square">
            <a:spAutoFit/>
          </a:bodyPr>
          <a:lstStyle/>
          <a:p>
            <a:pPr>
              <a:defRPr sz="880" b="1">
                <a:solidFill>
                  <a:srgbClr val="F59E0B"/>
                </a:solidFill>
                <a:latin typeface="Consolas"/>
              </a:defRPr>
            </a:pPr>
            <a:r>
              <a:t>KEY QUANTITATIVE TAKEAWAYS:</a:t>
            </a:r>
          </a:p>
          <a:p>
            <a:pPr>
              <a:spcBef>
                <a:spcPts val="400"/>
              </a:spcBef>
              <a:defRPr sz="850">
                <a:solidFill>
                  <a:srgbClr val="F8FAFC"/>
                </a:solidFill>
                <a:latin typeface="Segoe UI"/>
              </a:defRPr>
            </a:pPr>
            <a:r>
              <a:t>• Error-Width Coupling: Spearman correlation between interval width and realized error is +0.66 to +0.71. The interval reliably expands when the grid is unpredictable.</a:t>
            </a:r>
          </a:p>
          <a:p>
            <a:pPr>
              <a:spcBef>
                <a:spcPts val="400"/>
              </a:spcBef>
              <a:defRPr sz="850">
                <a:solidFill>
                  <a:srgbClr val="F8FAFC"/>
                </a:solidFill>
                <a:latin typeface="Segoe UI"/>
              </a:defRPr>
            </a:pPr>
            <a:r>
              <a:t>• Risk Containment: The widest 10% of prediction intervals carries 4.2x to 4.8x the mean error — enabling automated decision suppression during volatile periods.</a:t>
            </a:r>
          </a:p>
        </p:txBody>
      </p:sp>
      <p:sp>
        <p:nvSpPr>
          <p:cNvPr id="15" name="Rounded Rectangle 14"/>
          <p:cNvSpPr/>
          <p:nvPr/>
        </p:nvSpPr>
        <p:spPr>
          <a:xfrm>
            <a:off x="6217920" y="1691640"/>
            <a:ext cx="5242255"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83080"/>
            <a:ext cx="4876495" cy="1920240"/>
          </a:xfrm>
          <a:prstGeom prst="rect">
            <a:avLst/>
          </a:prstGeom>
          <a:noFill/>
        </p:spPr>
        <p:txBody>
          <a:bodyPr wrap="square">
            <a:spAutoFit/>
          </a:bodyPr>
          <a:lstStyle/>
          <a:p>
            <a:pPr>
              <a:defRPr sz="900" b="1">
                <a:solidFill>
                  <a:srgbClr val="EF4444"/>
                </a:solidFill>
                <a:latin typeface="Consolas"/>
              </a:defRPr>
            </a:pPr>
            <a:r>
              <a:t>METHODOLOGICAL HONESTY: THE ±1σ NEGATIVE RESULT</a:t>
            </a:r>
          </a:p>
          <a:p>
            <a:pPr>
              <a:spcBef>
                <a:spcPts val="400"/>
              </a:spcBef>
              <a:defRPr sz="850">
                <a:solidFill>
                  <a:srgbClr val="94A3B8"/>
                </a:solidFill>
                <a:latin typeface="Segoe UI"/>
              </a:defRPr>
            </a:pPr>
            <a:r>
              <a:t>A constant-width ±1σ interval (the default rule most practitioners use) fails 11 of 12 coverage cells on this dataset.</a:t>
            </a:r>
            <a:br/>
            <a:br/>
            <a:r>
              <a:t>• At h=1 it over-covers (0.984 vs nominal 0.95); at h=96 it under-covers (0.907).</a:t>
            </a:r>
            <a:br/>
            <a:r>
              <a:t>• The root cause: Point forecast error differs by +8.6% (h=1) and -11.0% (h=96) across the year. A static width calibrated on one half does not transfer to another.</a:t>
            </a:r>
            <a:br/>
            <a:r>
              <a:t>• Conformal calibration guarantees are NOT claimed: time series residuals violate exchangeability. We report empirical held-out coverage, not marketing fiction.</a:t>
            </a:r>
          </a:p>
        </p:txBody>
      </p:sp>
      <p:pic>
        <p:nvPicPr>
          <p:cNvPr id="17" name="Picture 16" descr="ui_uncertainty_boxes.png"/>
          <p:cNvPicPr>
            <a:picLocks noChangeAspect="1"/>
          </p:cNvPicPr>
          <p:nvPr/>
        </p:nvPicPr>
        <p:blipFill>
          <a:blip r:embed="rId2"/>
          <a:stretch>
            <a:fillRect/>
          </a:stretch>
        </p:blipFill>
        <p:spPr>
          <a:xfrm>
            <a:off x="6400800" y="3977639"/>
            <a:ext cx="4876495" cy="155543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06 / FLEXIBILITY CAPABILITY AUDIT</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FLEXIBILITY WITHOUT FICTION.</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Historical consumption behavior does not automatically imply dispatchable capacity.</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06 / 11 ›</a:t>
            </a:r>
          </a:p>
        </p:txBody>
      </p:sp>
      <p:sp>
        <p:nvSpPr>
          <p:cNvPr id="11" name="Rounded Rectangle 10"/>
          <p:cNvSpPr/>
          <p:nvPr/>
        </p:nvSpPr>
        <p:spPr>
          <a:xfrm>
            <a:off x="731520" y="1691640"/>
            <a:ext cx="342900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783080"/>
            <a:ext cx="3154680" cy="594360"/>
          </a:xfrm>
          <a:prstGeom prst="rect">
            <a:avLst/>
          </a:prstGeom>
          <a:noFill/>
        </p:spPr>
        <p:txBody>
          <a:bodyPr wrap="square">
            <a:spAutoFit/>
          </a:bodyPr>
          <a:lstStyle/>
          <a:p>
            <a:pPr>
              <a:defRPr sz="1100" b="1">
                <a:solidFill>
                  <a:srgbClr val="F8FAFC"/>
                </a:solidFill>
                <a:latin typeface="Segoe UI"/>
              </a:defRPr>
            </a:pPr>
            <a:r>
              <a:t>PHYSICAL FLEXIBILITY</a:t>
            </a:r>
          </a:p>
          <a:p>
            <a:pPr>
              <a:spcBef>
                <a:spcPts val="200"/>
              </a:spcBef>
              <a:defRPr sz="819" b="1">
                <a:solidFill>
                  <a:srgbClr val="EF4444"/>
                </a:solidFill>
                <a:latin typeface="Consolas"/>
              </a:defRPr>
            </a:pPr>
            <a:r>
              <a:t>[UNKNOWN ON RAW DATA]</a:t>
            </a:r>
          </a:p>
        </p:txBody>
      </p:sp>
      <p:sp>
        <p:nvSpPr>
          <p:cNvPr id="13" name="TextBox 12"/>
          <p:cNvSpPr txBox="1"/>
          <p:nvPr/>
        </p:nvSpPr>
        <p:spPr>
          <a:xfrm>
            <a:off x="868680" y="2423160"/>
            <a:ext cx="3154680" cy="3108960"/>
          </a:xfrm>
          <a:prstGeom prst="rect">
            <a:avLst/>
          </a:prstGeom>
          <a:noFill/>
        </p:spPr>
        <p:txBody>
          <a:bodyPr wrap="square">
            <a:spAutoFit/>
          </a:bodyPr>
          <a:lstStyle/>
          <a:p>
            <a:pPr>
              <a:spcBef>
                <a:spcPts val="500"/>
              </a:spcBef>
              <a:defRPr sz="919" b="1">
                <a:solidFill>
                  <a:srgbClr val="F8FAFC"/>
                </a:solidFill>
                <a:latin typeface="Segoe UI"/>
              </a:defRPr>
            </a:pPr>
            <a:r>
              <a:t>◆ 0 of 8 Dimensions Supported</a:t>
            </a:r>
          </a:p>
          <a:p>
            <a:pPr>
              <a:spcBef>
                <a:spcPts val="100"/>
              </a:spcBef>
              <a:defRPr sz="819">
                <a:solidFill>
                  <a:srgbClr val="94A3B8"/>
                </a:solidFill>
                <a:latin typeface="Segoe UI"/>
              </a:defRPr>
            </a:pPr>
            <a:r>
              <a:t>SMART-DS carries no physical limits or control interfaces for customer loads.</a:t>
            </a:r>
          </a:p>
          <a:p>
            <a:pPr>
              <a:spcBef>
                <a:spcPts val="500"/>
              </a:spcBef>
              <a:defRPr sz="919" b="1">
                <a:solidFill>
                  <a:srgbClr val="F8FAFC"/>
                </a:solidFill>
                <a:latin typeface="Segoe UI"/>
              </a:defRPr>
            </a:pPr>
            <a:r>
              <a:t>◆ Battery Telemetry Blindspot</a:t>
            </a:r>
          </a:p>
          <a:p>
            <a:pPr>
              <a:spcBef>
                <a:spcPts val="100"/>
              </a:spcBef>
              <a:defRPr sz="819">
                <a:solidFill>
                  <a:srgbClr val="94A3B8"/>
                </a:solidFill>
                <a:latin typeface="Segoe UI"/>
              </a:defRPr>
            </a:pPr>
            <a:r>
              <a:t>93/93 storage units report State=IDLING with nameplate scalar only; no SOC series (G-01).</a:t>
            </a:r>
          </a:p>
          <a:p>
            <a:pPr>
              <a:spcBef>
                <a:spcPts val="500"/>
              </a:spcBef>
              <a:defRPr sz="919" b="1">
                <a:solidFill>
                  <a:srgbClr val="F8FAFC"/>
                </a:solidFill>
                <a:latin typeface="Segoe UI"/>
              </a:defRPr>
            </a:pPr>
            <a:r>
              <a:t>◆ Missing DER Programs</a:t>
            </a:r>
          </a:p>
          <a:p>
            <a:pPr>
              <a:spcBef>
                <a:spcPts val="100"/>
              </a:spcBef>
              <a:defRPr sz="819">
                <a:solidFill>
                  <a:srgbClr val="94A3B8"/>
                </a:solidFill>
                <a:latin typeface="Segoe UI"/>
              </a:defRPr>
            </a:pPr>
            <a:r>
              <a:t>Zero demand-response enrolment, HVAC setpoint, or EV departure series exist (G-07 through G-10).</a:t>
            </a:r>
          </a:p>
          <a:p>
            <a:pPr>
              <a:spcBef>
                <a:spcPts val="500"/>
              </a:spcBef>
              <a:defRPr sz="919" b="1">
                <a:solidFill>
                  <a:srgbClr val="F8FAFC"/>
                </a:solidFill>
                <a:latin typeface="Segoe UI"/>
              </a:defRPr>
            </a:pPr>
            <a:r>
              <a:t>◆ Rigorous Verdict: NO</a:t>
            </a:r>
          </a:p>
          <a:p>
            <a:pPr>
              <a:spcBef>
                <a:spcPts val="100"/>
              </a:spcBef>
              <a:defRPr sz="819">
                <a:solidFill>
                  <a:srgbClr val="94A3B8"/>
                </a:solidFill>
                <a:latin typeface="Segoe UI"/>
              </a:defRPr>
            </a:pPr>
            <a:r>
              <a:t>Refusing to invent controllable capacity is a core safety feature, not an omission.</a:t>
            </a:r>
          </a:p>
        </p:txBody>
      </p:sp>
      <p:sp>
        <p:nvSpPr>
          <p:cNvPr id="14" name="Rounded Rectangle 13"/>
          <p:cNvSpPr/>
          <p:nvPr/>
        </p:nvSpPr>
        <p:spPr>
          <a:xfrm>
            <a:off x="4379976" y="1691640"/>
            <a:ext cx="342900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783080"/>
            <a:ext cx="3154680" cy="594360"/>
          </a:xfrm>
          <a:prstGeom prst="rect">
            <a:avLst/>
          </a:prstGeom>
          <a:noFill/>
        </p:spPr>
        <p:txBody>
          <a:bodyPr wrap="square">
            <a:spAutoFit/>
          </a:bodyPr>
          <a:lstStyle/>
          <a:p>
            <a:pPr>
              <a:defRPr sz="1100" b="1">
                <a:solidFill>
                  <a:srgbClr val="F8FAFC"/>
                </a:solidFill>
                <a:latin typeface="Segoe UI"/>
              </a:defRPr>
            </a:pPr>
            <a:r>
              <a:t>STATISTICAL PROXY</a:t>
            </a:r>
          </a:p>
          <a:p>
            <a:pPr>
              <a:spcBef>
                <a:spcPts val="200"/>
              </a:spcBef>
              <a:defRPr sz="819" b="1">
                <a:solidFill>
                  <a:srgbClr val="F59E0B"/>
                </a:solidFill>
                <a:latin typeface="Consolas"/>
              </a:defRPr>
            </a:pPr>
            <a:r>
              <a:t>[PARTIALLY ESTIMABLE]</a:t>
            </a:r>
          </a:p>
        </p:txBody>
      </p:sp>
      <p:sp>
        <p:nvSpPr>
          <p:cNvPr id="16" name="TextBox 15"/>
          <p:cNvSpPr txBox="1"/>
          <p:nvPr/>
        </p:nvSpPr>
        <p:spPr>
          <a:xfrm>
            <a:off x="4517136" y="2423160"/>
            <a:ext cx="3154680" cy="3108960"/>
          </a:xfrm>
          <a:prstGeom prst="rect">
            <a:avLst/>
          </a:prstGeom>
          <a:noFill/>
        </p:spPr>
        <p:txBody>
          <a:bodyPr wrap="square">
            <a:spAutoFit/>
          </a:bodyPr>
          <a:lstStyle/>
          <a:p>
            <a:pPr>
              <a:spcBef>
                <a:spcPts val="500"/>
              </a:spcBef>
              <a:defRPr sz="919" b="1">
                <a:solidFill>
                  <a:srgbClr val="F8FAFC"/>
                </a:solidFill>
                <a:latin typeface="Segoe UI"/>
              </a:defRPr>
            </a:pPr>
            <a:r>
              <a:t>◆ Behavioural Envelope</a:t>
            </a:r>
          </a:p>
          <a:p>
            <a:pPr>
              <a:spcBef>
                <a:spcPts val="100"/>
              </a:spcBef>
              <a:defRPr sz="819">
                <a:solidFill>
                  <a:srgbClr val="94A3B8"/>
                </a:solidFill>
                <a:latin typeface="Segoe UI"/>
              </a:defRPr>
            </a:pPr>
            <a:r>
              <a:t>Measures how far demand historically deviated from expected profile without intervention.</a:t>
            </a:r>
          </a:p>
          <a:p>
            <a:pPr>
              <a:spcBef>
                <a:spcPts val="500"/>
              </a:spcBef>
              <a:defRPr sz="919" b="1">
                <a:solidFill>
                  <a:srgbClr val="F8FAFC"/>
                </a:solidFill>
                <a:latin typeface="Segoe UI"/>
              </a:defRPr>
            </a:pPr>
            <a:r>
              <a:t>◆ Calibrated Widths</a:t>
            </a:r>
          </a:p>
          <a:p>
            <a:pPr>
              <a:spcBef>
                <a:spcPts val="100"/>
              </a:spcBef>
              <a:defRPr sz="819">
                <a:solidFill>
                  <a:srgbClr val="94A3B8"/>
                </a:solidFill>
                <a:latin typeface="Segoe UI"/>
              </a:defRPr>
            </a:pPr>
            <a:r>
              <a:t>Bounded at ±2.73 kW (h=1), ±5.57 kW (h=4), ±14.12 kW (h=96).</a:t>
            </a:r>
          </a:p>
          <a:p>
            <a:pPr>
              <a:spcBef>
                <a:spcPts val="500"/>
              </a:spcBef>
              <a:defRPr sz="919" b="1">
                <a:solidFill>
                  <a:srgbClr val="F8FAFC"/>
                </a:solidFill>
                <a:latin typeface="Segoe UI"/>
              </a:defRPr>
            </a:pPr>
            <a:r>
              <a:t>◆ 6x Wider Than Point MAE</a:t>
            </a:r>
          </a:p>
          <a:p>
            <a:pPr>
              <a:spcBef>
                <a:spcPts val="100"/>
              </a:spcBef>
              <a:defRPr sz="819">
                <a:solidFill>
                  <a:srgbClr val="94A3B8"/>
                </a:solidFill>
                <a:latin typeface="Segoe UI"/>
              </a:defRPr>
            </a:pPr>
            <a:r>
              <a:t>90% two-sided coverage requires wide bands due to heavy-tailed load variation.</a:t>
            </a:r>
          </a:p>
          <a:p>
            <a:pPr>
              <a:spcBef>
                <a:spcPts val="500"/>
              </a:spcBef>
              <a:defRPr sz="919" b="1">
                <a:solidFill>
                  <a:srgbClr val="F8FAFC"/>
                </a:solidFill>
                <a:latin typeface="Segoe UI"/>
              </a:defRPr>
            </a:pPr>
            <a:r>
              <a:t>◆ Strict Interpretation</a:t>
            </a:r>
          </a:p>
          <a:p>
            <a:pPr>
              <a:spcBef>
                <a:spcPts val="100"/>
              </a:spcBef>
              <a:defRPr sz="819">
                <a:solidFill>
                  <a:srgbClr val="94A3B8"/>
                </a:solidFill>
                <a:latin typeface="Segoe UI"/>
              </a:defRPr>
            </a:pPr>
            <a:r>
              <a:t>'We were surprised outside this band 10% of the time' — NOT 'We can move 6 kW.'</a:t>
            </a:r>
          </a:p>
        </p:txBody>
      </p:sp>
      <p:sp>
        <p:nvSpPr>
          <p:cNvPr id="17" name="Rounded Rectangle 16"/>
          <p:cNvSpPr/>
          <p:nvPr/>
        </p:nvSpPr>
        <p:spPr>
          <a:xfrm>
            <a:off x="8028432" y="1691640"/>
            <a:ext cx="342900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783080"/>
            <a:ext cx="3154680" cy="594360"/>
          </a:xfrm>
          <a:prstGeom prst="rect">
            <a:avLst/>
          </a:prstGeom>
          <a:noFill/>
        </p:spPr>
        <p:txBody>
          <a:bodyPr wrap="square">
            <a:spAutoFit/>
          </a:bodyPr>
          <a:lstStyle/>
          <a:p>
            <a:pPr>
              <a:defRPr sz="1100" b="1">
                <a:solidFill>
                  <a:srgbClr val="F8FAFC"/>
                </a:solidFill>
                <a:latin typeface="Segoe UI"/>
              </a:defRPr>
            </a:pPr>
            <a:r>
              <a:t>ASSUMED FLEXIBILITY</a:t>
            </a:r>
          </a:p>
          <a:p>
            <a:pPr>
              <a:spcBef>
                <a:spcPts val="200"/>
              </a:spcBef>
              <a:defRPr sz="819" b="1">
                <a:solidFill>
                  <a:srgbClr val="00E5FF"/>
                </a:solidFill>
                <a:latin typeface="Consolas"/>
              </a:defRPr>
            </a:pPr>
            <a:r>
              <a:t>[SCENARIO ONLY]</a:t>
            </a:r>
          </a:p>
        </p:txBody>
      </p:sp>
      <p:sp>
        <p:nvSpPr>
          <p:cNvPr id="19" name="TextBox 18"/>
          <p:cNvSpPr txBox="1"/>
          <p:nvPr/>
        </p:nvSpPr>
        <p:spPr>
          <a:xfrm>
            <a:off x="8165592" y="2423160"/>
            <a:ext cx="3154680" cy="3108960"/>
          </a:xfrm>
          <a:prstGeom prst="rect">
            <a:avLst/>
          </a:prstGeom>
          <a:noFill/>
        </p:spPr>
        <p:txBody>
          <a:bodyPr wrap="square">
            <a:spAutoFit/>
          </a:bodyPr>
          <a:lstStyle/>
          <a:p>
            <a:pPr>
              <a:spcBef>
                <a:spcPts val="500"/>
              </a:spcBef>
              <a:defRPr sz="919" b="1">
                <a:solidFill>
                  <a:srgbClr val="F8FAFC"/>
                </a:solidFill>
                <a:latin typeface="Segoe UI"/>
              </a:defRPr>
            </a:pPr>
            <a:r>
              <a:t>◆ Advisory Authority Only</a:t>
            </a:r>
          </a:p>
          <a:p>
            <a:pPr>
              <a:spcBef>
                <a:spcPts val="100"/>
              </a:spcBef>
              <a:defRPr sz="819">
                <a:solidFill>
                  <a:srgbClr val="94A3B8"/>
                </a:solidFill>
                <a:latin typeface="Segoe UI"/>
              </a:defRPr>
            </a:pPr>
            <a:r>
              <a:t>Assumed values are allowed strictly for offline scenario stress-testing and simulation.</a:t>
            </a:r>
          </a:p>
          <a:p>
            <a:pPr>
              <a:spcBef>
                <a:spcPts val="500"/>
              </a:spcBef>
              <a:defRPr sz="919" b="1">
                <a:solidFill>
                  <a:srgbClr val="F8FAFC"/>
                </a:solidFill>
                <a:latin typeface="Segoe UI"/>
              </a:defRPr>
            </a:pPr>
            <a:r>
              <a:t>◆ Enforced Domain Contract</a:t>
            </a:r>
          </a:p>
          <a:p>
            <a:pPr>
              <a:spcBef>
                <a:spcPts val="100"/>
              </a:spcBef>
              <a:defRPr sz="819">
                <a:solidFill>
                  <a:srgbClr val="94A3B8"/>
                </a:solidFill>
                <a:latin typeface="Segoe UI"/>
              </a:defRPr>
            </a:pPr>
            <a:r>
              <a:t>Code constructor raises DomainValidationError if a statistical proxy claims scheduleable control.</a:t>
            </a:r>
          </a:p>
          <a:p>
            <a:pPr>
              <a:spcBef>
                <a:spcPts val="500"/>
              </a:spcBef>
              <a:defRPr sz="919" b="1">
                <a:solidFill>
                  <a:srgbClr val="F8FAFC"/>
                </a:solidFill>
                <a:latin typeface="Segoe UI"/>
              </a:defRPr>
            </a:pPr>
            <a:r>
              <a:t>◆ Zero Unverified Commands</a:t>
            </a:r>
          </a:p>
          <a:p>
            <a:pPr>
              <a:spcBef>
                <a:spcPts val="100"/>
              </a:spcBef>
              <a:defRPr sz="819">
                <a:solidFill>
                  <a:srgbClr val="94A3B8"/>
                </a:solidFill>
                <a:latin typeface="Segoe UI"/>
              </a:defRPr>
            </a:pPr>
            <a:r>
              <a:t>The decision engine is architecturally barred from commanding unverified capacity.</a:t>
            </a:r>
          </a:p>
          <a:p>
            <a:pPr>
              <a:spcBef>
                <a:spcPts val="500"/>
              </a:spcBef>
              <a:defRPr sz="919" b="1">
                <a:solidFill>
                  <a:srgbClr val="F8FAFC"/>
                </a:solidFill>
                <a:latin typeface="Segoe UI"/>
              </a:defRPr>
            </a:pPr>
            <a:r>
              <a:t>◆ DISCOM Value</a:t>
            </a:r>
          </a:p>
          <a:p>
            <a:pPr>
              <a:spcBef>
                <a:spcPts val="100"/>
              </a:spcBef>
              <a:defRPr sz="819">
                <a:solidFill>
                  <a:srgbClr val="94A3B8"/>
                </a:solidFill>
                <a:latin typeface="Segoe UI"/>
              </a:defRPr>
            </a:pPr>
            <a:r>
              <a:t>Protects distribution utilities from severe under-delivery imbalance penalties.</a:t>
            </a:r>
          </a:p>
        </p:txBody>
      </p:sp>
      <p:sp>
        <p:nvSpPr>
          <p:cNvPr id="20" name="Rounded Rectangle 19"/>
          <p:cNvSpPr/>
          <p:nvPr/>
        </p:nvSpPr>
        <p:spPr>
          <a:xfrm>
            <a:off x="731520" y="5715000"/>
            <a:ext cx="10728655" cy="594360"/>
          </a:xfrm>
          <a:prstGeom prst="roundRect">
            <a:avLst/>
          </a:prstGeom>
          <a:solidFill>
            <a:srgbClr val="09121C"/>
          </a:solidFill>
          <a:ln w="12700">
            <a:solidFill>
              <a:srgbClr val="00D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742432"/>
            <a:ext cx="10362895" cy="530352"/>
          </a:xfrm>
          <a:prstGeom prst="rect">
            <a:avLst/>
          </a:prstGeom>
          <a:noFill/>
        </p:spPr>
        <p:txBody>
          <a:bodyPr wrap="square">
            <a:spAutoFit/>
          </a:bodyPr>
          <a:lstStyle/>
          <a:p>
            <a:pPr>
              <a:defRPr sz="880" b="1">
                <a:solidFill>
                  <a:srgbClr val="00D382"/>
                </a:solidFill>
                <a:latin typeface="Consolas"/>
              </a:defRPr>
            </a:pPr>
            <a:r>
              <a:t>SCIENTIFIC INTEGRITY: UNCERTAINTY PREDICTS FLEXIBILITY, YET DISCOUNT WAS WITHHELD</a:t>
            </a:r>
          </a:p>
          <a:p>
            <a:pPr>
              <a:spcBef>
                <a:spcPts val="200"/>
              </a:spcBef>
              <a:defRPr sz="819">
                <a:solidFill>
                  <a:srgbClr val="94A3B8"/>
                </a:solidFill>
                <a:latin typeface="Segoe UI"/>
              </a:defRPr>
            </a:pPr>
            <a:r>
              <a:t>Phase 8 uncertainty correlated with realized flexibility deviations (+0.393 / +0.246 / +0.312 at h=1/4/96). Because this was observed post-hoc on the sealed split, GridSentinal deliberately refused to apply an uncertainty discount to avoid test-leakage contamination.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07 / DECISION ASSURANCE ENGINE</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BEFORE IT ACTS, IT TRIES TO BREAK THE DECISION.</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Instead of asking only 'What should the system do?', GridSentinal asks 'What could go wrong if it does?'</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07 / 11 ›</a:t>
            </a:r>
          </a:p>
        </p:txBody>
      </p:sp>
      <p:sp>
        <p:nvSpPr>
          <p:cNvPr id="11" name="Rounded Rectangle 10"/>
          <p:cNvSpPr/>
          <p:nvPr/>
        </p:nvSpPr>
        <p:spPr>
          <a:xfrm>
            <a:off x="731520" y="1737360"/>
            <a:ext cx="201168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47088"/>
            <a:ext cx="1792224" cy="685800"/>
          </a:xfrm>
          <a:prstGeom prst="rect">
            <a:avLst/>
          </a:prstGeom>
          <a:noFill/>
        </p:spPr>
        <p:txBody>
          <a:bodyPr wrap="square">
            <a:spAutoFit/>
          </a:bodyPr>
          <a:lstStyle/>
          <a:p>
            <a:pPr>
              <a:defRPr sz="819" b="1">
                <a:solidFill>
                  <a:srgbClr val="00E5FF"/>
                </a:solidFill>
                <a:latin typeface="Consolas"/>
              </a:defRPr>
            </a:pPr>
            <a:r>
              <a:t>01 / PROPOSE</a:t>
            </a:r>
          </a:p>
          <a:p>
            <a:pPr>
              <a:spcBef>
                <a:spcPts val="100"/>
              </a:spcBef>
              <a:defRPr sz="1050" b="1">
                <a:solidFill>
                  <a:srgbClr val="F8FAFC"/>
                </a:solidFill>
                <a:latin typeface="Segoe UI"/>
              </a:defRPr>
            </a:pPr>
            <a:r>
              <a:t>Optimizer Engine</a:t>
            </a:r>
          </a:p>
          <a:p>
            <a:pPr>
              <a:spcBef>
                <a:spcPts val="200"/>
              </a:spcBef>
              <a:defRPr sz="720" b="1">
                <a:solidFill>
                  <a:srgbClr val="64748B"/>
                </a:solidFill>
                <a:latin typeface="Consolas"/>
              </a:defRPr>
            </a:pPr>
            <a:r>
              <a:t>[DESIGNED (Phase 10)]</a:t>
            </a:r>
          </a:p>
        </p:txBody>
      </p:sp>
      <p:sp>
        <p:nvSpPr>
          <p:cNvPr id="13" name="TextBox 12"/>
          <p:cNvSpPr txBox="1"/>
          <p:nvPr/>
        </p:nvSpPr>
        <p:spPr>
          <a:xfrm>
            <a:off x="841248" y="2560320"/>
            <a:ext cx="1792224" cy="2971800"/>
          </a:xfrm>
          <a:prstGeom prst="rect">
            <a:avLst/>
          </a:prstGeom>
          <a:noFill/>
        </p:spPr>
        <p:txBody>
          <a:bodyPr wrap="square">
            <a:spAutoFit/>
          </a:bodyPr>
          <a:lstStyle/>
          <a:p>
            <a:pPr>
              <a:defRPr sz="819">
                <a:solidFill>
                  <a:srgbClr val="94A3B8"/>
                </a:solidFill>
                <a:latin typeface="Segoe UI"/>
              </a:defRPr>
            </a:pPr>
            <a:r>
              <a:t>Converts forecasts, calibrated uncertainty envelopes, and contractual flexibility into candidate dispatch actions.</a:t>
            </a:r>
            <a:br/>
            <a:br/>
            <a:r>
              <a:t>Formulates multi-objective cost vs reliability trade-offs under operational constraints.</a:t>
            </a:r>
          </a:p>
        </p:txBody>
      </p:sp>
      <p:sp>
        <p:nvSpPr>
          <p:cNvPr id="14" name="TextBox 13"/>
          <p:cNvSpPr txBox="1"/>
          <p:nvPr/>
        </p:nvSpPr>
        <p:spPr>
          <a:xfrm>
            <a:off x="2743200" y="3383280"/>
            <a:ext cx="164592" cy="365760"/>
          </a:xfrm>
          <a:prstGeom prst="rect">
            <a:avLst/>
          </a:prstGeom>
          <a:noFill/>
        </p:spPr>
        <p:txBody>
          <a:bodyPr wrap="none" lIns="0" rIns="0" tIns="0" bIns="0">
            <a:spAutoFit/>
          </a:bodyPr>
          <a:lstStyle/>
          <a:p>
            <a:pPr algn="ctr">
              <a:defRPr sz="1100">
                <a:solidFill>
                  <a:srgbClr val="00D382"/>
                </a:solidFill>
                <a:latin typeface="Segoe UI"/>
              </a:defRPr>
            </a:pPr>
            <a:r>
              <a:t>➔</a:t>
            </a:r>
          </a:p>
        </p:txBody>
      </p:sp>
      <p:sp>
        <p:nvSpPr>
          <p:cNvPr id="15" name="Rounded Rectangle 14"/>
          <p:cNvSpPr/>
          <p:nvPr/>
        </p:nvSpPr>
        <p:spPr>
          <a:xfrm>
            <a:off x="2907792" y="1737360"/>
            <a:ext cx="201168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0" y="1847088"/>
            <a:ext cx="1792224" cy="685800"/>
          </a:xfrm>
          <a:prstGeom prst="rect">
            <a:avLst/>
          </a:prstGeom>
          <a:noFill/>
        </p:spPr>
        <p:txBody>
          <a:bodyPr wrap="square">
            <a:spAutoFit/>
          </a:bodyPr>
          <a:lstStyle/>
          <a:p>
            <a:pPr>
              <a:defRPr sz="819" b="1">
                <a:solidFill>
                  <a:srgbClr val="EF4444"/>
                </a:solidFill>
                <a:latin typeface="Consolas"/>
              </a:defRPr>
            </a:pPr>
            <a:r>
              <a:t>02 / RED TEAM</a:t>
            </a:r>
          </a:p>
          <a:p>
            <a:pPr>
              <a:spcBef>
                <a:spcPts val="100"/>
              </a:spcBef>
              <a:defRPr sz="1050" b="1">
                <a:solidFill>
                  <a:srgbClr val="F8FAFC"/>
                </a:solidFill>
                <a:latin typeface="Segoe UI"/>
              </a:defRPr>
            </a:pPr>
            <a:r>
              <a:t>Adversarial Engine</a:t>
            </a:r>
          </a:p>
          <a:p>
            <a:pPr>
              <a:spcBef>
                <a:spcPts val="200"/>
              </a:spcBef>
              <a:defRPr sz="720" b="1">
                <a:solidFill>
                  <a:srgbClr val="64748B"/>
                </a:solidFill>
                <a:latin typeface="Consolas"/>
              </a:defRPr>
            </a:pPr>
            <a:r>
              <a:t>[DESIGNED (Phase 12)]</a:t>
            </a:r>
          </a:p>
        </p:txBody>
      </p:sp>
      <p:sp>
        <p:nvSpPr>
          <p:cNvPr id="17" name="TextBox 16"/>
          <p:cNvSpPr txBox="1"/>
          <p:nvPr/>
        </p:nvSpPr>
        <p:spPr>
          <a:xfrm>
            <a:off x="3017520" y="2560320"/>
            <a:ext cx="1792224" cy="2971800"/>
          </a:xfrm>
          <a:prstGeom prst="rect">
            <a:avLst/>
          </a:prstGeom>
          <a:noFill/>
        </p:spPr>
        <p:txBody>
          <a:bodyPr wrap="square">
            <a:spAutoFit/>
          </a:bodyPr>
          <a:lstStyle/>
          <a:p>
            <a:pPr>
              <a:defRPr sz="819">
                <a:solidFill>
                  <a:srgbClr val="94A3B8"/>
                </a:solidFill>
                <a:latin typeface="Segoe UI"/>
              </a:defRPr>
            </a:pPr>
            <a:r>
              <a:t>Subjects candidate action to deliberate extreme stress scenarios:</a:t>
            </a:r>
            <a:br/>
            <a:br/>
            <a:r>
              <a:t>• Sudden 80% solar collapse</a:t>
            </a:r>
            <a:br/>
            <a:r>
              <a:t>• Correlated EV cluster spike</a:t>
            </a:r>
            <a:br/>
            <a:r>
              <a:t>• Communication latency &amp; dropped telemetry</a:t>
            </a:r>
            <a:br/>
            <a:r>
              <a:t>• Unmodelled 3.22% line losses</a:t>
            </a:r>
          </a:p>
        </p:txBody>
      </p:sp>
      <p:sp>
        <p:nvSpPr>
          <p:cNvPr id="18" name="TextBox 17"/>
          <p:cNvSpPr txBox="1"/>
          <p:nvPr/>
        </p:nvSpPr>
        <p:spPr>
          <a:xfrm>
            <a:off x="4919472" y="3383280"/>
            <a:ext cx="164592" cy="365760"/>
          </a:xfrm>
          <a:prstGeom prst="rect">
            <a:avLst/>
          </a:prstGeom>
          <a:noFill/>
        </p:spPr>
        <p:txBody>
          <a:bodyPr wrap="none" lIns="0" rIns="0" tIns="0" bIns="0">
            <a:spAutoFit/>
          </a:bodyPr>
          <a:lstStyle/>
          <a:p>
            <a:pPr algn="ctr">
              <a:defRPr sz="1100">
                <a:solidFill>
                  <a:srgbClr val="00D382"/>
                </a:solidFill>
                <a:latin typeface="Segoe UI"/>
              </a:defRPr>
            </a:pPr>
            <a:r>
              <a:t>➔</a:t>
            </a:r>
          </a:p>
        </p:txBody>
      </p:sp>
      <p:sp>
        <p:nvSpPr>
          <p:cNvPr id="19" name="Rounded Rectangle 18"/>
          <p:cNvSpPr/>
          <p:nvPr/>
        </p:nvSpPr>
        <p:spPr>
          <a:xfrm>
            <a:off x="5084064" y="1737360"/>
            <a:ext cx="201168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93792" y="1847088"/>
            <a:ext cx="1792224" cy="685800"/>
          </a:xfrm>
          <a:prstGeom prst="rect">
            <a:avLst/>
          </a:prstGeom>
          <a:noFill/>
        </p:spPr>
        <p:txBody>
          <a:bodyPr wrap="square">
            <a:spAutoFit/>
          </a:bodyPr>
          <a:lstStyle/>
          <a:p>
            <a:pPr>
              <a:defRPr sz="819" b="1">
                <a:solidFill>
                  <a:srgbClr val="F59E0B"/>
                </a:solidFill>
                <a:latin typeface="Consolas"/>
              </a:defRPr>
            </a:pPr>
            <a:r>
              <a:t>03 / SIMULATE</a:t>
            </a:r>
          </a:p>
          <a:p>
            <a:pPr>
              <a:spcBef>
                <a:spcPts val="100"/>
              </a:spcBef>
              <a:defRPr sz="1050" b="1">
                <a:solidFill>
                  <a:srgbClr val="F8FAFC"/>
                </a:solidFill>
                <a:latin typeface="Segoe UI"/>
              </a:defRPr>
            </a:pPr>
            <a:r>
              <a:t>Digital Twin</a:t>
            </a:r>
          </a:p>
          <a:p>
            <a:pPr>
              <a:spcBef>
                <a:spcPts val="200"/>
              </a:spcBef>
              <a:defRPr sz="720" b="1">
                <a:solidFill>
                  <a:srgbClr val="64748B"/>
                </a:solidFill>
                <a:latin typeface="Consolas"/>
              </a:defRPr>
            </a:pPr>
            <a:r>
              <a:t>[DESIGNED (Phase 11)]</a:t>
            </a:r>
          </a:p>
        </p:txBody>
      </p:sp>
      <p:sp>
        <p:nvSpPr>
          <p:cNvPr id="21" name="TextBox 20"/>
          <p:cNvSpPr txBox="1"/>
          <p:nvPr/>
        </p:nvSpPr>
        <p:spPr>
          <a:xfrm>
            <a:off x="5193792" y="2560320"/>
            <a:ext cx="1792224" cy="2971800"/>
          </a:xfrm>
          <a:prstGeom prst="rect">
            <a:avLst/>
          </a:prstGeom>
          <a:noFill/>
        </p:spPr>
        <p:txBody>
          <a:bodyPr wrap="square">
            <a:spAutoFit/>
          </a:bodyPr>
          <a:lstStyle/>
          <a:p>
            <a:pPr>
              <a:defRPr sz="819">
                <a:solidFill>
                  <a:srgbClr val="94A3B8"/>
                </a:solidFill>
                <a:latin typeface="Segoe UI"/>
              </a:defRPr>
            </a:pPr>
            <a:r>
              <a:t>Independent power-flow simulation (OpenDSS integration) computes actual physical outcomes:</a:t>
            </a:r>
            <a:br/>
            <a:br/>
            <a:r>
              <a:t>• Feeder voltage deviations</a:t>
            </a:r>
            <a:br/>
            <a:r>
              <a:t>• Line thermal overload limits</a:t>
            </a:r>
            <a:br/>
            <a:r>
              <a:t>• Substation back-feed risks</a:t>
            </a:r>
          </a:p>
        </p:txBody>
      </p:sp>
      <p:sp>
        <p:nvSpPr>
          <p:cNvPr id="22" name="TextBox 21"/>
          <p:cNvSpPr txBox="1"/>
          <p:nvPr/>
        </p:nvSpPr>
        <p:spPr>
          <a:xfrm>
            <a:off x="7095744" y="3383280"/>
            <a:ext cx="164592" cy="365760"/>
          </a:xfrm>
          <a:prstGeom prst="rect">
            <a:avLst/>
          </a:prstGeom>
          <a:noFill/>
        </p:spPr>
        <p:txBody>
          <a:bodyPr wrap="none" lIns="0" rIns="0" tIns="0" bIns="0">
            <a:spAutoFit/>
          </a:bodyPr>
          <a:lstStyle/>
          <a:p>
            <a:pPr algn="ctr">
              <a:defRPr sz="1100">
                <a:solidFill>
                  <a:srgbClr val="00D382"/>
                </a:solidFill>
                <a:latin typeface="Segoe UI"/>
              </a:defRPr>
            </a:pPr>
            <a:r>
              <a:t>➔</a:t>
            </a:r>
          </a:p>
        </p:txBody>
      </p:sp>
      <p:sp>
        <p:nvSpPr>
          <p:cNvPr id="23" name="Rounded Rectangle 22"/>
          <p:cNvSpPr/>
          <p:nvPr/>
        </p:nvSpPr>
        <p:spPr>
          <a:xfrm>
            <a:off x="7260336" y="1737360"/>
            <a:ext cx="201168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0064" y="1847088"/>
            <a:ext cx="1792224" cy="685800"/>
          </a:xfrm>
          <a:prstGeom prst="rect">
            <a:avLst/>
          </a:prstGeom>
          <a:noFill/>
        </p:spPr>
        <p:txBody>
          <a:bodyPr wrap="square">
            <a:spAutoFit/>
          </a:bodyPr>
          <a:lstStyle/>
          <a:p>
            <a:pPr>
              <a:defRPr sz="819" b="1">
                <a:solidFill>
                  <a:srgbClr val="00D382"/>
                </a:solidFill>
                <a:latin typeface="Consolas"/>
              </a:defRPr>
            </a:pPr>
            <a:r>
              <a:t>04 / ASSURE</a:t>
            </a:r>
          </a:p>
          <a:p>
            <a:pPr>
              <a:spcBef>
                <a:spcPts val="100"/>
              </a:spcBef>
              <a:defRPr sz="1050" b="1">
                <a:solidFill>
                  <a:srgbClr val="F8FAFC"/>
                </a:solidFill>
                <a:latin typeface="Segoe UI"/>
              </a:defRPr>
            </a:pPr>
            <a:r>
              <a:t>Assurance Gate</a:t>
            </a:r>
          </a:p>
          <a:p>
            <a:pPr>
              <a:spcBef>
                <a:spcPts val="200"/>
              </a:spcBef>
              <a:defRPr sz="720" b="1">
                <a:solidFill>
                  <a:srgbClr val="64748B"/>
                </a:solidFill>
                <a:latin typeface="Consolas"/>
              </a:defRPr>
            </a:pPr>
            <a:r>
              <a:t>[DESIGNED (Phase 13)]</a:t>
            </a:r>
          </a:p>
        </p:txBody>
      </p:sp>
      <p:sp>
        <p:nvSpPr>
          <p:cNvPr id="25" name="TextBox 24"/>
          <p:cNvSpPr txBox="1"/>
          <p:nvPr/>
        </p:nvSpPr>
        <p:spPr>
          <a:xfrm>
            <a:off x="7370064" y="2560320"/>
            <a:ext cx="1792224" cy="2971800"/>
          </a:xfrm>
          <a:prstGeom prst="rect">
            <a:avLst/>
          </a:prstGeom>
          <a:noFill/>
        </p:spPr>
        <p:txBody>
          <a:bodyPr wrap="square">
            <a:spAutoFit/>
          </a:bodyPr>
          <a:lstStyle/>
          <a:p>
            <a:pPr>
              <a:defRPr sz="819">
                <a:solidFill>
                  <a:srgbClr val="94A3B8"/>
                </a:solidFill>
                <a:latin typeface="Segoe UI"/>
              </a:defRPr>
            </a:pPr>
            <a:r>
              <a:t>Decision Assurance evaluates candidate against physics &amp; policy:</a:t>
            </a:r>
            <a:br/>
            <a:br/>
            <a:r>
              <a:t>• Does action survive Red Team?</a:t>
            </a:r>
            <a:br/>
            <a:r>
              <a:t>• Is uncertainty within safe bounds?</a:t>
            </a:r>
            <a:br/>
            <a:r>
              <a:t>• Action: Approve, Reject, or Re-optimize</a:t>
            </a:r>
          </a:p>
        </p:txBody>
      </p:sp>
      <p:sp>
        <p:nvSpPr>
          <p:cNvPr id="26" name="TextBox 25"/>
          <p:cNvSpPr txBox="1"/>
          <p:nvPr/>
        </p:nvSpPr>
        <p:spPr>
          <a:xfrm>
            <a:off x="9272016" y="3383280"/>
            <a:ext cx="164592" cy="365760"/>
          </a:xfrm>
          <a:prstGeom prst="rect">
            <a:avLst/>
          </a:prstGeom>
          <a:noFill/>
        </p:spPr>
        <p:txBody>
          <a:bodyPr wrap="none" lIns="0" rIns="0" tIns="0" bIns="0">
            <a:spAutoFit/>
          </a:bodyPr>
          <a:lstStyle/>
          <a:p>
            <a:pPr algn="ctr">
              <a:defRPr sz="1100">
                <a:solidFill>
                  <a:srgbClr val="00D382"/>
                </a:solidFill>
                <a:latin typeface="Segoe UI"/>
              </a:defRPr>
            </a:pPr>
            <a:r>
              <a:t>➔</a:t>
            </a:r>
          </a:p>
        </p:txBody>
      </p:sp>
      <p:sp>
        <p:nvSpPr>
          <p:cNvPr id="27" name="Rounded Rectangle 26"/>
          <p:cNvSpPr/>
          <p:nvPr/>
        </p:nvSpPr>
        <p:spPr>
          <a:xfrm>
            <a:off x="9436608" y="1737360"/>
            <a:ext cx="2011680" cy="38862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6336" y="1847088"/>
            <a:ext cx="1792224" cy="685800"/>
          </a:xfrm>
          <a:prstGeom prst="rect">
            <a:avLst/>
          </a:prstGeom>
          <a:noFill/>
        </p:spPr>
        <p:txBody>
          <a:bodyPr wrap="square">
            <a:spAutoFit/>
          </a:bodyPr>
          <a:lstStyle/>
          <a:p>
            <a:pPr>
              <a:defRPr sz="819" b="1">
                <a:solidFill>
                  <a:srgbClr val="38BDF8"/>
                </a:solidFill>
                <a:latin typeface="Consolas"/>
              </a:defRPr>
            </a:pPr>
            <a:r>
              <a:t>05 / EXECUTE</a:t>
            </a:r>
          </a:p>
          <a:p>
            <a:pPr>
              <a:spcBef>
                <a:spcPts val="100"/>
              </a:spcBef>
              <a:defRPr sz="1050" b="1">
                <a:solidFill>
                  <a:srgbClr val="F8FAFC"/>
                </a:solidFill>
                <a:latin typeface="Segoe UI"/>
              </a:defRPr>
            </a:pPr>
            <a:r>
              <a:t>Adaptive Autonomy</a:t>
            </a:r>
          </a:p>
          <a:p>
            <a:pPr>
              <a:spcBef>
                <a:spcPts val="200"/>
              </a:spcBef>
              <a:defRPr sz="720" b="1">
                <a:solidFill>
                  <a:srgbClr val="64748B"/>
                </a:solidFill>
                <a:latin typeface="Consolas"/>
              </a:defRPr>
            </a:pPr>
            <a:r>
              <a:t>[ROADMAP (Phase 16)]</a:t>
            </a:r>
          </a:p>
        </p:txBody>
      </p:sp>
      <p:sp>
        <p:nvSpPr>
          <p:cNvPr id="29" name="TextBox 28"/>
          <p:cNvSpPr txBox="1"/>
          <p:nvPr/>
        </p:nvSpPr>
        <p:spPr>
          <a:xfrm>
            <a:off x="9546336" y="2560320"/>
            <a:ext cx="1792224" cy="2971800"/>
          </a:xfrm>
          <a:prstGeom prst="rect">
            <a:avLst/>
          </a:prstGeom>
          <a:noFill/>
        </p:spPr>
        <p:txBody>
          <a:bodyPr wrap="square">
            <a:spAutoFit/>
          </a:bodyPr>
          <a:lstStyle/>
          <a:p>
            <a:pPr>
              <a:defRPr sz="819">
                <a:solidFill>
                  <a:srgbClr val="94A3B8"/>
                </a:solidFill>
                <a:latin typeface="Segoe UI"/>
              </a:defRPr>
            </a:pPr>
            <a:r>
              <a:t>Closed-loop actuation:</a:t>
            </a:r>
            <a:br/>
            <a:br/>
            <a:r>
              <a:t>• Autonomous execution for verified high-confidence actions</a:t>
            </a:r>
            <a:br/>
            <a:r>
              <a:t>• Fallback to Human Supervisor for edge-case alerts</a:t>
            </a:r>
            <a:br/>
            <a:r>
              <a:t>• Real-world outcome telemetry loops into MLOps</a:t>
            </a:r>
          </a:p>
        </p:txBody>
      </p:sp>
      <p:sp>
        <p:nvSpPr>
          <p:cNvPr id="30" name="Rounded Rectangle 29"/>
          <p:cNvSpPr/>
          <p:nvPr/>
        </p:nvSpPr>
        <p:spPr>
          <a:xfrm>
            <a:off x="731520" y="5715000"/>
            <a:ext cx="10728655" cy="594360"/>
          </a:xfrm>
          <a:prstGeom prst="roundRect">
            <a:avLst/>
          </a:prstGeom>
          <a:solidFill>
            <a:srgbClr val="09121C"/>
          </a:solidFill>
          <a:ln w="12700">
            <a:solidFill>
              <a:srgbClr val="00D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42432"/>
            <a:ext cx="10362895" cy="530352"/>
          </a:xfrm>
          <a:prstGeom prst="rect">
            <a:avLst/>
          </a:prstGeom>
          <a:noFill/>
        </p:spPr>
        <p:txBody>
          <a:bodyPr wrap="square">
            <a:spAutoFit/>
          </a:bodyPr>
          <a:lstStyle/>
          <a:p>
            <a:pPr>
              <a:defRPr sz="850" b="1">
                <a:solidFill>
                  <a:srgbClr val="00D382"/>
                </a:solidFill>
                <a:latin typeface="Consolas"/>
              </a:defRPr>
            </a:pPr>
            <a:r>
              <a:t>THE CORE DIFFERENTIATOR:</a:t>
            </a:r>
          </a:p>
          <a:p>
            <a:pPr>
              <a:spcBef>
                <a:spcPts val="200"/>
              </a:spcBef>
              <a:defRPr sz="900">
                <a:solidFill>
                  <a:srgbClr val="F8FAFC"/>
                </a:solidFill>
                <a:latin typeface="Segoe UI"/>
              </a:defRPr>
            </a:pPr>
            <a:r>
              <a:t>Trust is not earned by high model confidence. Trust is earned when candidate actions survive deliberate attempts to break them before touching physical grid hardware.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08 / RESEARCH &amp; EXPERIMENTAL EVIDENCE</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WE TESTED THE IDEA. WE DIDN'T JUST DEMO IT.</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1,235 tests passing, 29 registered experiments, and rigorous negative result reporting.</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08 / 11 ›</a:t>
            </a:r>
          </a:p>
        </p:txBody>
      </p:sp>
      <p:sp>
        <p:nvSpPr>
          <p:cNvPr id="11" name="Rounded Rectangle 10"/>
          <p:cNvSpPr/>
          <p:nvPr/>
        </p:nvSpPr>
        <p:spPr>
          <a:xfrm>
            <a:off x="731520" y="1691640"/>
            <a:ext cx="5120640"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10512"/>
            <a:ext cx="4754880" cy="2468880"/>
          </a:xfrm>
          <a:prstGeom prst="rect">
            <a:avLst/>
          </a:prstGeom>
          <a:noFill/>
        </p:spPr>
        <p:txBody>
          <a:bodyPr wrap="square">
            <a:spAutoFit/>
          </a:bodyPr>
          <a:lstStyle/>
          <a:p>
            <a:pPr>
              <a:defRPr sz="900" b="1">
                <a:solidFill>
                  <a:srgbClr val="00E5FF"/>
                </a:solidFill>
                <a:latin typeface="Consolas"/>
              </a:defRPr>
            </a:pPr>
            <a:r>
              <a:t>TECHNICAL STACK &amp; PROTOCOL DISCIPLINE</a:t>
            </a:r>
          </a:p>
          <a:p>
            <a:pPr>
              <a:spcBef>
                <a:spcPts val="600"/>
              </a:spcBef>
              <a:defRPr sz="850">
                <a:solidFill>
                  <a:srgbClr val="F8FAFC"/>
                </a:solidFill>
                <a:latin typeface="Segoe UI"/>
              </a:defRPr>
            </a:pPr>
            <a:r>
              <a:t>◆ Runtime &amp; Tooling: Python 3.12, PyTorch CPU-deterministic, scikit-learn, OpenDSS parser. pandas was deliberately rejected across the entire core pipeline.</a:t>
            </a:r>
          </a:p>
          <a:p>
            <a:pPr>
              <a:spcBef>
                <a:spcPts val="600"/>
              </a:spcBef>
              <a:defRPr sz="850">
                <a:solidFill>
                  <a:srgbClr val="F8FAFC"/>
                </a:solidFill>
                <a:latin typeface="Segoe UI"/>
              </a:defRPr>
            </a:pPr>
            <a:r>
              <a:t>◆ Leakage Protection: Chronological train/validation/test partitions. Validation split into CAL_FIT (50%) and CAL_CONF (50%). Sealed test split read exactly once.</a:t>
            </a:r>
          </a:p>
          <a:p>
            <a:pPr>
              <a:spcBef>
                <a:spcPts val="600"/>
              </a:spcBef>
              <a:defRPr sz="850">
                <a:solidFill>
                  <a:srgbClr val="F8FAFC"/>
                </a:solidFill>
                <a:latin typeface="Segoe UI"/>
              </a:defRPr>
            </a:pPr>
            <a:r>
              <a:t>◆ Pre-Registered Bars: Success thresholds registered before execution (e.g. Qwen required to beat 1.5648 kW at 24h). Misses recorded rather than tuned around.</a:t>
            </a:r>
          </a:p>
          <a:p>
            <a:pPr>
              <a:spcBef>
                <a:spcPts val="600"/>
              </a:spcBef>
              <a:defRPr sz="850">
                <a:solidFill>
                  <a:srgbClr val="F8FAFC"/>
                </a:solidFill>
                <a:latin typeface="Segoe UI"/>
              </a:defRPr>
            </a:pPr>
            <a:r>
              <a:t>◆ Verification Integrity: 1,235 automated tests passing; 29 committed experiment runs in registry.jsonl; D-001 through D-109 architectural decision records.</a:t>
            </a:r>
          </a:p>
        </p:txBody>
      </p:sp>
      <p:pic>
        <p:nvPicPr>
          <p:cNvPr id="13" name="Picture 12" descr="ui_operational_cards.png"/>
          <p:cNvPicPr>
            <a:picLocks noChangeAspect="1"/>
          </p:cNvPicPr>
          <p:nvPr/>
        </p:nvPicPr>
        <p:blipFill>
          <a:blip r:embed="rId2"/>
          <a:stretch>
            <a:fillRect/>
          </a:stretch>
        </p:blipFill>
        <p:spPr>
          <a:xfrm>
            <a:off x="914400" y="4343400"/>
            <a:ext cx="4754880" cy="1885556"/>
          </a:xfrm>
          <a:prstGeom prst="rect">
            <a:avLst/>
          </a:prstGeom>
        </p:spPr>
      </p:pic>
      <p:sp>
        <p:nvSpPr>
          <p:cNvPr id="14" name="Rounded Rectangle 13"/>
          <p:cNvSpPr/>
          <p:nvPr/>
        </p:nvSpPr>
        <p:spPr>
          <a:xfrm>
            <a:off x="6035040" y="1691640"/>
            <a:ext cx="5425135"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783080"/>
            <a:ext cx="5059375" cy="4389120"/>
          </a:xfrm>
          <a:prstGeom prst="rect">
            <a:avLst/>
          </a:prstGeom>
          <a:noFill/>
        </p:spPr>
        <p:txBody>
          <a:bodyPr wrap="square">
            <a:spAutoFit/>
          </a:bodyPr>
          <a:lstStyle/>
          <a:p>
            <a:pPr>
              <a:defRPr sz="900" b="1">
                <a:solidFill>
                  <a:srgbClr val="00D382"/>
                </a:solidFill>
                <a:latin typeface="Consolas"/>
              </a:defRPr>
            </a:pPr>
            <a:r>
              <a:t>FIVE COMPLETED RESEARCH FINDINGS</a:t>
            </a:r>
          </a:p>
          <a:p>
            <a:pPr>
              <a:spcBef>
                <a:spcPts val="500"/>
              </a:spcBef>
              <a:defRPr sz="900" b="1">
                <a:solidFill>
                  <a:srgbClr val="EF4444"/>
                </a:solidFill>
                <a:latin typeface="Segoe UI"/>
              </a:defRPr>
            </a:pPr>
            <a:r>
              <a:t>Phase 6: Language-Model Specialization  [NEGATIVE RESULT]</a:t>
            </a:r>
          </a:p>
          <a:p>
            <a:pPr>
              <a:spcBef>
                <a:spcPts val="100"/>
              </a:spcBef>
              <a:defRPr sz="800">
                <a:solidFill>
                  <a:srgbClr val="94A3B8"/>
                </a:solidFill>
                <a:latin typeface="Segoe UI"/>
              </a:defRPr>
            </a:pPr>
            <a:r>
              <a:t>A frozen Qwen3-1.7B LLM trunk lost to classical GBM at every horizon (2.74 vs 1.56 kW at 24h). Readout representations collapsed to participation ratio 2.1 vs 10.0 for random controls.</a:t>
            </a:r>
          </a:p>
          <a:p>
            <a:pPr>
              <a:spcBef>
                <a:spcPts val="500"/>
              </a:spcBef>
              <a:defRPr sz="900" b="1">
                <a:solidFill>
                  <a:srgbClr val="EF4444"/>
                </a:solidFill>
                <a:latin typeface="Segoe UI"/>
              </a:defRPr>
            </a:pPr>
            <a:r>
              <a:t>Phase 7: Learned Expert Router (MoE)  [NEGATIVE RESULT]</a:t>
            </a:r>
          </a:p>
          <a:p>
            <a:pPr>
              <a:spcBef>
                <a:spcPts val="100"/>
              </a:spcBef>
              <a:defRPr sz="800">
                <a:solidFill>
                  <a:srgbClr val="94A3B8"/>
                </a:solidFill>
                <a:latin typeface="Segoe UI"/>
              </a:defRPr>
            </a:pPr>
            <a:r>
              <a:t>While oracle routing proved 30-38% theoretical headroom existed, a learned neural router lost to the fixed weighted ensemble at 0 of 3 horizons (0.398 vs 0.407 kW at h=1). The fixed ensemble shipped.</a:t>
            </a:r>
          </a:p>
          <a:p>
            <a:pPr>
              <a:spcBef>
                <a:spcPts val="500"/>
              </a:spcBef>
              <a:defRPr sz="900" b="1">
                <a:solidFill>
                  <a:srgbClr val="00D382"/>
                </a:solidFill>
                <a:latin typeface="Segoe UI"/>
              </a:defRPr>
            </a:pPr>
            <a:r>
              <a:t>Phase 8: Calibrated Prediction Intervals  [VERIFIED YES]</a:t>
            </a:r>
          </a:p>
          <a:p>
            <a:pPr>
              <a:spcBef>
                <a:spcPts val="100"/>
              </a:spcBef>
              <a:defRPr sz="800">
                <a:solidFill>
                  <a:srgbClr val="94A3B8"/>
                </a:solidFill>
                <a:latin typeface="Segoe UI"/>
              </a:defRPr>
            </a:pPr>
            <a:r>
              <a:t>Conformal state intervals achieved nominal 90% coverage (89.3%-90.2%) across all horizons. Disproved static ±1σ assumption (failed 11/12 cells).</a:t>
            </a:r>
          </a:p>
          <a:p>
            <a:pPr>
              <a:spcBef>
                <a:spcPts val="500"/>
              </a:spcBef>
              <a:defRPr sz="900" b="1">
                <a:solidFill>
                  <a:srgbClr val="F59E0B"/>
                </a:solidFill>
                <a:latin typeface="Segoe UI"/>
              </a:defRPr>
            </a:pPr>
            <a:r>
              <a:t>Phase 9: Flexibility Capability Audit  [MEASURED VERDICT: NO]</a:t>
            </a:r>
          </a:p>
          <a:p>
            <a:pPr>
              <a:spcBef>
                <a:spcPts val="100"/>
              </a:spcBef>
              <a:defRPr sz="800">
                <a:solidFill>
                  <a:srgbClr val="94A3B8"/>
                </a:solidFill>
                <a:latin typeface="Segoe UI"/>
              </a:defRPr>
            </a:pPr>
            <a:r>
              <a:t>Disproved the industry myth of free demand response. 0 of 8 dimensions possessed physical control interfaces; statistical proxy bounded at ±2.73 to ±14.12 kW.</a:t>
            </a:r>
          </a:p>
          <a:p>
            <a:pPr>
              <a:spcBef>
                <a:spcPts val="500"/>
              </a:spcBef>
              <a:defRPr sz="900" b="1">
                <a:solidFill>
                  <a:srgbClr val="00E5FF"/>
                </a:solidFill>
                <a:latin typeface="Segoe UI"/>
              </a:defRPr>
            </a:pPr>
            <a:r>
              <a:t>Phase 10: Controlled Feature Ablation  [COMPLETE EVIDENCE]</a:t>
            </a:r>
          </a:p>
          <a:p>
            <a:pPr>
              <a:spcBef>
                <a:spcPts val="100"/>
              </a:spcBef>
              <a:defRPr sz="800">
                <a:solidFill>
                  <a:srgbClr val="94A3B8"/>
                </a:solidFill>
                <a:latin typeface="Segoe UI"/>
              </a:defRPr>
            </a:pPr>
            <a:r>
              <a:t>Feature contribution is target-dependent. PV improved -27.40% under autoregressive lag features (A-&gt;B), while customer load preferred simple calendar features (Set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09 / INNOVATION &amp; CHALLENGE ALIGNMENT</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WHAT ACTUALLY MAKES GRIDSENTINAL DIFFERENT?</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Yuva Yodha Energy Tech Hackathon: Direct causal mapping to Grid Reliability challenge needs.</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09 / 11 ›</a:t>
            </a:r>
          </a:p>
        </p:txBody>
      </p:sp>
      <p:sp>
        <p:nvSpPr>
          <p:cNvPr id="11" name="Rounded Rectangle 10"/>
          <p:cNvSpPr/>
          <p:nvPr/>
        </p:nvSpPr>
        <p:spPr>
          <a:xfrm>
            <a:off x="731520" y="1691640"/>
            <a:ext cx="10728655" cy="932688"/>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746504"/>
            <a:ext cx="3108960" cy="822960"/>
          </a:xfrm>
          <a:prstGeom prst="rect">
            <a:avLst/>
          </a:prstGeom>
          <a:noFill/>
        </p:spPr>
        <p:txBody>
          <a:bodyPr wrap="square">
            <a:spAutoFit/>
          </a:bodyPr>
          <a:lstStyle/>
          <a:p>
            <a:pPr>
              <a:defRPr sz="780" b="1">
                <a:solidFill>
                  <a:srgbClr val="F59E0B"/>
                </a:solidFill>
                <a:latin typeface="Consolas"/>
              </a:defRPr>
            </a:pPr>
            <a:r>
              <a:t>CHALLENGE NEED: RENEWABLE INTERMITTENCY</a:t>
            </a:r>
          </a:p>
          <a:p>
            <a:pPr>
              <a:spcBef>
                <a:spcPts val="200"/>
              </a:spcBef>
              <a:defRPr sz="819">
                <a:solidFill>
                  <a:srgbClr val="94A3B8"/>
                </a:solidFill>
                <a:latin typeface="Segoe UI"/>
              </a:defRPr>
            </a:pPr>
            <a:r>
              <a:t>Feeder solar ramps cause voltage spikes, reverse power flows, and sudden generation deficits.</a:t>
            </a:r>
          </a:p>
        </p:txBody>
      </p:sp>
      <p:sp>
        <p:nvSpPr>
          <p:cNvPr id="13" name="TextBox 12"/>
          <p:cNvSpPr txBox="1"/>
          <p:nvPr/>
        </p:nvSpPr>
        <p:spPr>
          <a:xfrm>
            <a:off x="4005072" y="1947672"/>
            <a:ext cx="274320" cy="365760"/>
          </a:xfrm>
          <a:prstGeom prst="rect">
            <a:avLst/>
          </a:prstGeom>
          <a:noFill/>
        </p:spPr>
        <p:txBody>
          <a:bodyPr wrap="none">
            <a:spAutoFit/>
          </a:bodyPr>
          <a:lstStyle/>
          <a:p>
            <a:pPr>
              <a:defRPr sz="1100">
                <a:solidFill>
                  <a:srgbClr val="00E5FF"/>
                </a:solidFill>
                <a:latin typeface="Segoe UI"/>
              </a:defRPr>
            </a:pPr>
            <a:r>
              <a:t>➔</a:t>
            </a:r>
          </a:p>
        </p:txBody>
      </p:sp>
      <p:sp>
        <p:nvSpPr>
          <p:cNvPr id="14" name="TextBox 13"/>
          <p:cNvSpPr txBox="1"/>
          <p:nvPr/>
        </p:nvSpPr>
        <p:spPr>
          <a:xfrm>
            <a:off x="4297680" y="1746504"/>
            <a:ext cx="3657600" cy="822960"/>
          </a:xfrm>
          <a:prstGeom prst="rect">
            <a:avLst/>
          </a:prstGeom>
          <a:noFill/>
        </p:spPr>
        <p:txBody>
          <a:bodyPr wrap="square">
            <a:spAutoFit/>
          </a:bodyPr>
          <a:lstStyle/>
          <a:p>
            <a:pPr>
              <a:defRPr sz="780" b="1">
                <a:solidFill>
                  <a:srgbClr val="00E5FF"/>
                </a:solidFill>
                <a:latin typeface="Consolas"/>
              </a:defRPr>
            </a:pPr>
            <a:r>
              <a:t>GRIDSENTINAL CAPABILITY</a:t>
            </a:r>
          </a:p>
          <a:p>
            <a:pPr>
              <a:spcBef>
                <a:spcPts val="200"/>
              </a:spcBef>
              <a:defRPr sz="819">
                <a:solidFill>
                  <a:srgbClr val="F8FAFC"/>
                </a:solidFill>
                <a:latin typeface="Segoe UI"/>
              </a:defRPr>
            </a:pPr>
            <a:r>
              <a:t>15-minute multi-expert nowcasting + calibrated 24h day-ahead horizon with conformal error envelopes.</a:t>
            </a:r>
          </a:p>
        </p:txBody>
      </p:sp>
      <p:sp>
        <p:nvSpPr>
          <p:cNvPr id="15" name="TextBox 14"/>
          <p:cNvSpPr txBox="1"/>
          <p:nvPr/>
        </p:nvSpPr>
        <p:spPr>
          <a:xfrm>
            <a:off x="8001000" y="1947672"/>
            <a:ext cx="274320" cy="365760"/>
          </a:xfrm>
          <a:prstGeom prst="rect">
            <a:avLst/>
          </a:prstGeom>
          <a:noFill/>
        </p:spPr>
        <p:txBody>
          <a:bodyPr wrap="none">
            <a:spAutoFit/>
          </a:bodyPr>
          <a:lstStyle/>
          <a:p>
            <a:pPr>
              <a:defRPr sz="1100">
                <a:solidFill>
                  <a:srgbClr val="00D382"/>
                </a:solidFill>
                <a:latin typeface="Segoe UI"/>
              </a:defRPr>
            </a:pPr>
            <a:r>
              <a:t>➔</a:t>
            </a:r>
          </a:p>
        </p:txBody>
      </p:sp>
      <p:sp>
        <p:nvSpPr>
          <p:cNvPr id="16" name="TextBox 15"/>
          <p:cNvSpPr txBox="1"/>
          <p:nvPr/>
        </p:nvSpPr>
        <p:spPr>
          <a:xfrm>
            <a:off x="8275320" y="1746504"/>
            <a:ext cx="3063240" cy="822960"/>
          </a:xfrm>
          <a:prstGeom prst="rect">
            <a:avLst/>
          </a:prstGeom>
          <a:noFill/>
        </p:spPr>
        <p:txBody>
          <a:bodyPr wrap="square">
            <a:spAutoFit/>
          </a:bodyPr>
          <a:lstStyle/>
          <a:p>
            <a:pPr>
              <a:defRPr sz="780" b="1">
                <a:solidFill>
                  <a:srgbClr val="00D382"/>
                </a:solidFill>
                <a:latin typeface="Consolas"/>
              </a:defRPr>
            </a:pPr>
            <a:r>
              <a:t>EXPECTED VALUE</a:t>
            </a:r>
          </a:p>
          <a:p>
            <a:pPr>
              <a:spcBef>
                <a:spcPts val="200"/>
              </a:spcBef>
              <a:defRPr sz="819">
                <a:solidFill>
                  <a:srgbClr val="F8FAFC"/>
                </a:solidFill>
                <a:latin typeface="Segoe UI"/>
              </a:defRPr>
            </a:pPr>
            <a:r>
              <a:t>DISCOMs gain quantified ramp foresight, preventing blind generation shortfalls.</a:t>
            </a:r>
          </a:p>
        </p:txBody>
      </p:sp>
      <p:sp>
        <p:nvSpPr>
          <p:cNvPr id="17" name="Rounded Rectangle 16"/>
          <p:cNvSpPr/>
          <p:nvPr/>
        </p:nvSpPr>
        <p:spPr>
          <a:xfrm>
            <a:off x="731520" y="2734056"/>
            <a:ext cx="10728655" cy="932688"/>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788920"/>
            <a:ext cx="3108960" cy="822960"/>
          </a:xfrm>
          <a:prstGeom prst="rect">
            <a:avLst/>
          </a:prstGeom>
          <a:noFill/>
        </p:spPr>
        <p:txBody>
          <a:bodyPr wrap="square">
            <a:spAutoFit/>
          </a:bodyPr>
          <a:lstStyle/>
          <a:p>
            <a:pPr>
              <a:defRPr sz="780" b="1">
                <a:solidFill>
                  <a:srgbClr val="F59E0B"/>
                </a:solidFill>
                <a:latin typeface="Consolas"/>
              </a:defRPr>
            </a:pPr>
            <a:r>
              <a:t>CHALLENGE NEED: DER &amp; STORAGE COORDINATION</a:t>
            </a:r>
          </a:p>
          <a:p>
            <a:pPr>
              <a:spcBef>
                <a:spcPts val="200"/>
              </a:spcBef>
              <a:defRPr sz="819">
                <a:solidFill>
                  <a:srgbClr val="94A3B8"/>
                </a:solidFill>
                <a:latin typeface="Segoe UI"/>
              </a:defRPr>
            </a:pPr>
            <a:r>
              <a:t>Uncoordinated distributed solar and batteries can destabilize local distribution networks.</a:t>
            </a:r>
          </a:p>
        </p:txBody>
      </p:sp>
      <p:sp>
        <p:nvSpPr>
          <p:cNvPr id="19" name="TextBox 18"/>
          <p:cNvSpPr txBox="1"/>
          <p:nvPr/>
        </p:nvSpPr>
        <p:spPr>
          <a:xfrm>
            <a:off x="4005072" y="2990088"/>
            <a:ext cx="274320" cy="365760"/>
          </a:xfrm>
          <a:prstGeom prst="rect">
            <a:avLst/>
          </a:prstGeom>
          <a:noFill/>
        </p:spPr>
        <p:txBody>
          <a:bodyPr wrap="none">
            <a:spAutoFit/>
          </a:bodyPr>
          <a:lstStyle/>
          <a:p>
            <a:pPr>
              <a:defRPr sz="1100">
                <a:solidFill>
                  <a:srgbClr val="00E5FF"/>
                </a:solidFill>
                <a:latin typeface="Segoe UI"/>
              </a:defRPr>
            </a:pPr>
            <a:r>
              <a:t>➔</a:t>
            </a:r>
          </a:p>
        </p:txBody>
      </p:sp>
      <p:sp>
        <p:nvSpPr>
          <p:cNvPr id="20" name="TextBox 19"/>
          <p:cNvSpPr txBox="1"/>
          <p:nvPr/>
        </p:nvSpPr>
        <p:spPr>
          <a:xfrm>
            <a:off x="4297680" y="2788920"/>
            <a:ext cx="3657600" cy="822960"/>
          </a:xfrm>
          <a:prstGeom prst="rect">
            <a:avLst/>
          </a:prstGeom>
          <a:noFill/>
        </p:spPr>
        <p:txBody>
          <a:bodyPr wrap="square">
            <a:spAutoFit/>
          </a:bodyPr>
          <a:lstStyle/>
          <a:p>
            <a:pPr>
              <a:defRPr sz="780" b="1">
                <a:solidFill>
                  <a:srgbClr val="00E5FF"/>
                </a:solidFill>
                <a:latin typeface="Consolas"/>
              </a:defRPr>
            </a:pPr>
            <a:r>
              <a:t>GRIDSENTINAL CAPABILITY</a:t>
            </a:r>
          </a:p>
          <a:p>
            <a:pPr>
              <a:spcBef>
                <a:spcPts val="200"/>
              </a:spcBef>
              <a:defRPr sz="819">
                <a:solidFill>
                  <a:srgbClr val="F8FAFC"/>
                </a:solidFill>
                <a:latin typeface="Segoe UI"/>
              </a:defRPr>
            </a:pPr>
            <a:r>
              <a:t>Rigorous Flexibility Capability Audit + Behavioural Envelopes; refuses unverified dispatch commands.</a:t>
            </a:r>
          </a:p>
        </p:txBody>
      </p:sp>
      <p:sp>
        <p:nvSpPr>
          <p:cNvPr id="21" name="TextBox 20"/>
          <p:cNvSpPr txBox="1"/>
          <p:nvPr/>
        </p:nvSpPr>
        <p:spPr>
          <a:xfrm>
            <a:off x="8001000" y="2990088"/>
            <a:ext cx="274320" cy="365760"/>
          </a:xfrm>
          <a:prstGeom prst="rect">
            <a:avLst/>
          </a:prstGeom>
          <a:noFill/>
        </p:spPr>
        <p:txBody>
          <a:bodyPr wrap="none">
            <a:spAutoFit/>
          </a:bodyPr>
          <a:lstStyle/>
          <a:p>
            <a:pPr>
              <a:defRPr sz="1100">
                <a:solidFill>
                  <a:srgbClr val="00D382"/>
                </a:solidFill>
                <a:latin typeface="Segoe UI"/>
              </a:defRPr>
            </a:pPr>
            <a:r>
              <a:t>➔</a:t>
            </a:r>
          </a:p>
        </p:txBody>
      </p:sp>
      <p:sp>
        <p:nvSpPr>
          <p:cNvPr id="22" name="TextBox 21"/>
          <p:cNvSpPr txBox="1"/>
          <p:nvPr/>
        </p:nvSpPr>
        <p:spPr>
          <a:xfrm>
            <a:off x="8275320" y="2788920"/>
            <a:ext cx="3063240" cy="822960"/>
          </a:xfrm>
          <a:prstGeom prst="rect">
            <a:avLst/>
          </a:prstGeom>
          <a:noFill/>
        </p:spPr>
        <p:txBody>
          <a:bodyPr wrap="square">
            <a:spAutoFit/>
          </a:bodyPr>
          <a:lstStyle/>
          <a:p>
            <a:pPr>
              <a:defRPr sz="780" b="1">
                <a:solidFill>
                  <a:srgbClr val="00D382"/>
                </a:solidFill>
                <a:latin typeface="Consolas"/>
              </a:defRPr>
            </a:pPr>
            <a:r>
              <a:t>EXPECTED VALUE</a:t>
            </a:r>
          </a:p>
          <a:p>
            <a:pPr>
              <a:spcBef>
                <a:spcPts val="200"/>
              </a:spcBef>
              <a:defRPr sz="819">
                <a:solidFill>
                  <a:srgbClr val="F8FAFC"/>
                </a:solidFill>
                <a:latin typeface="Segoe UI"/>
              </a:defRPr>
            </a:pPr>
            <a:r>
              <a:t>Prevents over-commitment penalties; commands only verified, physically supported assets.</a:t>
            </a:r>
          </a:p>
        </p:txBody>
      </p:sp>
      <p:sp>
        <p:nvSpPr>
          <p:cNvPr id="23" name="Rounded Rectangle 22"/>
          <p:cNvSpPr/>
          <p:nvPr/>
        </p:nvSpPr>
        <p:spPr>
          <a:xfrm>
            <a:off x="731520" y="3776472"/>
            <a:ext cx="10728655" cy="932688"/>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831336"/>
            <a:ext cx="3108960" cy="822960"/>
          </a:xfrm>
          <a:prstGeom prst="rect">
            <a:avLst/>
          </a:prstGeom>
          <a:noFill/>
        </p:spPr>
        <p:txBody>
          <a:bodyPr wrap="square">
            <a:spAutoFit/>
          </a:bodyPr>
          <a:lstStyle/>
          <a:p>
            <a:pPr>
              <a:defRPr sz="780" b="1">
                <a:solidFill>
                  <a:srgbClr val="F59E0B"/>
                </a:solidFill>
                <a:latin typeface="Consolas"/>
              </a:defRPr>
            </a:pPr>
            <a:r>
              <a:t>CHALLENGE NEED: TECHNICAL LOSSES &amp; PHYSICS</a:t>
            </a:r>
          </a:p>
          <a:p>
            <a:pPr>
              <a:spcBef>
                <a:spcPts val="200"/>
              </a:spcBef>
              <a:defRPr sz="819">
                <a:solidFill>
                  <a:srgbClr val="94A3B8"/>
                </a:solidFill>
                <a:latin typeface="Segoe UI"/>
              </a:defRPr>
            </a:pPr>
            <a:r>
              <a:t>Distribution lines exhibit 3.22% technical losses (501.7 kW on feeder), causing power balance failure.</a:t>
            </a:r>
          </a:p>
        </p:txBody>
      </p:sp>
      <p:sp>
        <p:nvSpPr>
          <p:cNvPr id="25" name="TextBox 24"/>
          <p:cNvSpPr txBox="1"/>
          <p:nvPr/>
        </p:nvSpPr>
        <p:spPr>
          <a:xfrm>
            <a:off x="4005072" y="4032504"/>
            <a:ext cx="274320" cy="365760"/>
          </a:xfrm>
          <a:prstGeom prst="rect">
            <a:avLst/>
          </a:prstGeom>
          <a:noFill/>
        </p:spPr>
        <p:txBody>
          <a:bodyPr wrap="none">
            <a:spAutoFit/>
          </a:bodyPr>
          <a:lstStyle/>
          <a:p>
            <a:pPr>
              <a:defRPr sz="1100">
                <a:solidFill>
                  <a:srgbClr val="00E5FF"/>
                </a:solidFill>
                <a:latin typeface="Segoe UI"/>
              </a:defRPr>
            </a:pPr>
            <a:r>
              <a:t>➔</a:t>
            </a:r>
          </a:p>
        </p:txBody>
      </p:sp>
      <p:sp>
        <p:nvSpPr>
          <p:cNvPr id="26" name="TextBox 25"/>
          <p:cNvSpPr txBox="1"/>
          <p:nvPr/>
        </p:nvSpPr>
        <p:spPr>
          <a:xfrm>
            <a:off x="4297680" y="3831336"/>
            <a:ext cx="3657600" cy="822960"/>
          </a:xfrm>
          <a:prstGeom prst="rect">
            <a:avLst/>
          </a:prstGeom>
          <a:noFill/>
        </p:spPr>
        <p:txBody>
          <a:bodyPr wrap="square">
            <a:spAutoFit/>
          </a:bodyPr>
          <a:lstStyle/>
          <a:p>
            <a:pPr>
              <a:defRPr sz="780" b="1">
                <a:solidFill>
                  <a:srgbClr val="00E5FF"/>
                </a:solidFill>
                <a:latin typeface="Consolas"/>
              </a:defRPr>
            </a:pPr>
            <a:r>
              <a:t>GRIDSENTINAL CAPABILITY</a:t>
            </a:r>
          </a:p>
          <a:p>
            <a:pPr>
              <a:spcBef>
                <a:spcPts val="200"/>
              </a:spcBef>
              <a:defRPr sz="819">
                <a:solidFill>
                  <a:srgbClr val="F8FAFC"/>
                </a:solidFill>
                <a:latin typeface="Segoe UI"/>
              </a:defRPr>
            </a:pPr>
            <a:r>
              <a:t>Formal Energy Contract with loss modeling; OpenDSS digital twin physical power-flow validation.</a:t>
            </a:r>
          </a:p>
        </p:txBody>
      </p:sp>
      <p:sp>
        <p:nvSpPr>
          <p:cNvPr id="27" name="TextBox 26"/>
          <p:cNvSpPr txBox="1"/>
          <p:nvPr/>
        </p:nvSpPr>
        <p:spPr>
          <a:xfrm>
            <a:off x="8001000" y="4032504"/>
            <a:ext cx="274320" cy="365760"/>
          </a:xfrm>
          <a:prstGeom prst="rect">
            <a:avLst/>
          </a:prstGeom>
          <a:noFill/>
        </p:spPr>
        <p:txBody>
          <a:bodyPr wrap="none">
            <a:spAutoFit/>
          </a:bodyPr>
          <a:lstStyle/>
          <a:p>
            <a:pPr>
              <a:defRPr sz="1100">
                <a:solidFill>
                  <a:srgbClr val="00D382"/>
                </a:solidFill>
                <a:latin typeface="Segoe UI"/>
              </a:defRPr>
            </a:pPr>
            <a:r>
              <a:t>➔</a:t>
            </a:r>
          </a:p>
        </p:txBody>
      </p:sp>
      <p:sp>
        <p:nvSpPr>
          <p:cNvPr id="28" name="TextBox 27"/>
          <p:cNvSpPr txBox="1"/>
          <p:nvPr/>
        </p:nvSpPr>
        <p:spPr>
          <a:xfrm>
            <a:off x="8275320" y="3831336"/>
            <a:ext cx="3063240" cy="822960"/>
          </a:xfrm>
          <a:prstGeom prst="rect">
            <a:avLst/>
          </a:prstGeom>
          <a:noFill/>
        </p:spPr>
        <p:txBody>
          <a:bodyPr wrap="square">
            <a:spAutoFit/>
          </a:bodyPr>
          <a:lstStyle/>
          <a:p>
            <a:pPr>
              <a:defRPr sz="780" b="1">
                <a:solidFill>
                  <a:srgbClr val="00D382"/>
                </a:solidFill>
                <a:latin typeface="Consolas"/>
              </a:defRPr>
            </a:pPr>
            <a:r>
              <a:t>EXPECTED VALUE</a:t>
            </a:r>
          </a:p>
          <a:p>
            <a:pPr>
              <a:spcBef>
                <a:spcPts val="200"/>
              </a:spcBef>
              <a:defRPr sz="819">
                <a:solidFill>
                  <a:srgbClr val="F8FAFC"/>
                </a:solidFill>
                <a:latin typeface="Segoe UI"/>
              </a:defRPr>
            </a:pPr>
            <a:r>
              <a:t>Ensures dispatch actions close physically and prevent transformer thermal stress.</a:t>
            </a:r>
          </a:p>
        </p:txBody>
      </p:sp>
      <p:sp>
        <p:nvSpPr>
          <p:cNvPr id="29" name="Rounded Rectangle 28"/>
          <p:cNvSpPr/>
          <p:nvPr/>
        </p:nvSpPr>
        <p:spPr>
          <a:xfrm>
            <a:off x="731520" y="4818888"/>
            <a:ext cx="10728655" cy="932688"/>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873752"/>
            <a:ext cx="3108960" cy="822960"/>
          </a:xfrm>
          <a:prstGeom prst="rect">
            <a:avLst/>
          </a:prstGeom>
          <a:noFill/>
        </p:spPr>
        <p:txBody>
          <a:bodyPr wrap="square">
            <a:spAutoFit/>
          </a:bodyPr>
          <a:lstStyle/>
          <a:p>
            <a:pPr>
              <a:defRPr sz="780" b="1">
                <a:solidFill>
                  <a:srgbClr val="F59E0B"/>
                </a:solidFill>
                <a:latin typeface="Consolas"/>
              </a:defRPr>
            </a:pPr>
            <a:r>
              <a:t>CHALLENGE NEED: AUTONOMOUS GRID SAFETY</a:t>
            </a:r>
          </a:p>
          <a:p>
            <a:pPr>
              <a:spcBef>
                <a:spcPts val="200"/>
              </a:spcBef>
              <a:defRPr sz="819">
                <a:solidFill>
                  <a:srgbClr val="94A3B8"/>
                </a:solidFill>
                <a:latin typeface="Segoe UI"/>
              </a:defRPr>
            </a:pPr>
            <a:r>
              <a:t>Direct execution of unverified AI decisions risks catastrophic grid events and utility liability.</a:t>
            </a:r>
          </a:p>
        </p:txBody>
      </p:sp>
      <p:sp>
        <p:nvSpPr>
          <p:cNvPr id="31" name="TextBox 30"/>
          <p:cNvSpPr txBox="1"/>
          <p:nvPr/>
        </p:nvSpPr>
        <p:spPr>
          <a:xfrm>
            <a:off x="4005072" y="5074920"/>
            <a:ext cx="274320" cy="365760"/>
          </a:xfrm>
          <a:prstGeom prst="rect">
            <a:avLst/>
          </a:prstGeom>
          <a:noFill/>
        </p:spPr>
        <p:txBody>
          <a:bodyPr wrap="none">
            <a:spAutoFit/>
          </a:bodyPr>
          <a:lstStyle/>
          <a:p>
            <a:pPr>
              <a:defRPr sz="1100">
                <a:solidFill>
                  <a:srgbClr val="00E5FF"/>
                </a:solidFill>
                <a:latin typeface="Segoe UI"/>
              </a:defRPr>
            </a:pPr>
            <a:r>
              <a:t>➔</a:t>
            </a:r>
          </a:p>
        </p:txBody>
      </p:sp>
      <p:sp>
        <p:nvSpPr>
          <p:cNvPr id="32" name="TextBox 31"/>
          <p:cNvSpPr txBox="1"/>
          <p:nvPr/>
        </p:nvSpPr>
        <p:spPr>
          <a:xfrm>
            <a:off x="4297680" y="4873752"/>
            <a:ext cx="3657600" cy="822960"/>
          </a:xfrm>
          <a:prstGeom prst="rect">
            <a:avLst/>
          </a:prstGeom>
          <a:noFill/>
        </p:spPr>
        <p:txBody>
          <a:bodyPr wrap="square">
            <a:spAutoFit/>
          </a:bodyPr>
          <a:lstStyle/>
          <a:p>
            <a:pPr>
              <a:defRPr sz="780" b="1">
                <a:solidFill>
                  <a:srgbClr val="00E5FF"/>
                </a:solidFill>
                <a:latin typeface="Consolas"/>
              </a:defRPr>
            </a:pPr>
            <a:r>
              <a:t>GRIDSENTINAL CAPABILITY</a:t>
            </a:r>
          </a:p>
          <a:p>
            <a:pPr>
              <a:spcBef>
                <a:spcPts val="200"/>
              </a:spcBef>
              <a:defRPr sz="819">
                <a:solidFill>
                  <a:srgbClr val="F8FAFC"/>
                </a:solidFill>
                <a:latin typeface="Segoe UI"/>
              </a:defRPr>
            </a:pPr>
            <a:r>
              <a:t>Adversarial Red Team stress-testing + Decision Assurance Gate with human-in-the-loop fallback.</a:t>
            </a:r>
          </a:p>
        </p:txBody>
      </p:sp>
      <p:sp>
        <p:nvSpPr>
          <p:cNvPr id="33" name="TextBox 32"/>
          <p:cNvSpPr txBox="1"/>
          <p:nvPr/>
        </p:nvSpPr>
        <p:spPr>
          <a:xfrm>
            <a:off x="8001000" y="5074920"/>
            <a:ext cx="274320" cy="365760"/>
          </a:xfrm>
          <a:prstGeom prst="rect">
            <a:avLst/>
          </a:prstGeom>
          <a:noFill/>
        </p:spPr>
        <p:txBody>
          <a:bodyPr wrap="none">
            <a:spAutoFit/>
          </a:bodyPr>
          <a:lstStyle/>
          <a:p>
            <a:pPr>
              <a:defRPr sz="1100">
                <a:solidFill>
                  <a:srgbClr val="00D382"/>
                </a:solidFill>
                <a:latin typeface="Segoe UI"/>
              </a:defRPr>
            </a:pPr>
            <a:r>
              <a:t>➔</a:t>
            </a:r>
          </a:p>
        </p:txBody>
      </p:sp>
      <p:sp>
        <p:nvSpPr>
          <p:cNvPr id="34" name="TextBox 33"/>
          <p:cNvSpPr txBox="1"/>
          <p:nvPr/>
        </p:nvSpPr>
        <p:spPr>
          <a:xfrm>
            <a:off x="8275320" y="4873752"/>
            <a:ext cx="3063240" cy="822960"/>
          </a:xfrm>
          <a:prstGeom prst="rect">
            <a:avLst/>
          </a:prstGeom>
          <a:noFill/>
        </p:spPr>
        <p:txBody>
          <a:bodyPr wrap="square">
            <a:spAutoFit/>
          </a:bodyPr>
          <a:lstStyle/>
          <a:p>
            <a:pPr>
              <a:defRPr sz="780" b="1">
                <a:solidFill>
                  <a:srgbClr val="00D382"/>
                </a:solidFill>
                <a:latin typeface="Consolas"/>
              </a:defRPr>
            </a:pPr>
            <a:r>
              <a:t>EXPECTED VALUE</a:t>
            </a:r>
          </a:p>
          <a:p>
            <a:pPr>
              <a:spcBef>
                <a:spcPts val="200"/>
              </a:spcBef>
              <a:defRPr sz="819">
                <a:solidFill>
                  <a:srgbClr val="F8FAFC"/>
                </a:solidFill>
                <a:latin typeface="Segoe UI"/>
              </a:defRPr>
            </a:pPr>
            <a:r>
              <a:t>Zero unchecked automated decisions; verifiable operational safety for industrial deployment.</a:t>
            </a:r>
          </a:p>
        </p:txBody>
      </p:sp>
      <p:sp>
        <p:nvSpPr>
          <p:cNvPr id="35" name="Rounded Rectangle 34"/>
          <p:cNvSpPr/>
          <p:nvPr/>
        </p:nvSpPr>
        <p:spPr>
          <a:xfrm>
            <a:off x="731520" y="5715000"/>
            <a:ext cx="10728655" cy="594360"/>
          </a:xfrm>
          <a:prstGeom prst="roundRect">
            <a:avLst/>
          </a:prstGeom>
          <a:solidFill>
            <a:srgbClr val="09121C"/>
          </a:solidFill>
          <a:ln w="12700">
            <a:solidFill>
              <a:srgbClr val="00D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742432"/>
            <a:ext cx="10362895" cy="530352"/>
          </a:xfrm>
          <a:prstGeom prst="rect">
            <a:avLst/>
          </a:prstGeom>
          <a:noFill/>
        </p:spPr>
        <p:txBody>
          <a:bodyPr wrap="square">
            <a:spAutoFit/>
          </a:bodyPr>
          <a:lstStyle/>
          <a:p>
            <a:pPr>
              <a:defRPr sz="850" b="1">
                <a:solidFill>
                  <a:srgbClr val="00D382"/>
                </a:solidFill>
                <a:latin typeface="Consolas"/>
              </a:defRPr>
            </a:pPr>
            <a:r>
              <a:t>THE SYSTEM-LEVEL INNOVATION:</a:t>
            </a:r>
          </a:p>
          <a:p>
            <a:pPr>
              <a:spcBef>
                <a:spcPts val="200"/>
              </a:spcBef>
              <a:defRPr sz="880">
                <a:solidFill>
                  <a:srgbClr val="F8FAFC"/>
                </a:solidFill>
                <a:latin typeface="Segoe UI"/>
              </a:defRPr>
            </a:pPr>
            <a:r>
              <a:t>GridSentinal treats uncertainty, capability limits, and decision verification as first-class citizens of energy intelligence, rather than cosmetic reporting dashboards.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10 / VALUE CREATION &amp; ROADMAP</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FROM LAB EVIDENCE TO INDUSTRIAL DEPLOYMENT.</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Clear distinction between completed research foundation and future industrial scaling.</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10 / 11 ›</a:t>
            </a:r>
          </a:p>
        </p:txBody>
      </p:sp>
      <p:sp>
        <p:nvSpPr>
          <p:cNvPr id="11" name="Rounded Rectangle 10"/>
          <p:cNvSpPr/>
          <p:nvPr/>
        </p:nvSpPr>
        <p:spPr>
          <a:xfrm>
            <a:off x="731520" y="1691640"/>
            <a:ext cx="5120640"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10512"/>
            <a:ext cx="4754880" cy="4297680"/>
          </a:xfrm>
          <a:prstGeom prst="rect">
            <a:avLst/>
          </a:prstGeom>
          <a:noFill/>
        </p:spPr>
        <p:txBody>
          <a:bodyPr wrap="square">
            <a:spAutoFit/>
          </a:bodyPr>
          <a:lstStyle/>
          <a:p>
            <a:pPr>
              <a:defRPr sz="900" b="1">
                <a:solidFill>
                  <a:srgbClr val="00D382"/>
                </a:solidFill>
                <a:latin typeface="Consolas"/>
              </a:defRPr>
            </a:pPr>
            <a:r>
              <a:t>EXPECTED SYSTEM IMPACT (SCIENTIFICALLY FRAMED)</a:t>
            </a:r>
          </a:p>
          <a:p>
            <a:pPr>
              <a:spcBef>
                <a:spcPts val="700"/>
              </a:spcBef>
              <a:defRPr sz="950" b="1">
                <a:solidFill>
                  <a:srgbClr val="F8FAFC"/>
                </a:solidFill>
                <a:latin typeface="Segoe UI"/>
              </a:defRPr>
            </a:pPr>
            <a:r>
              <a:t>◆ Enhanced Grid Reliability</a:t>
            </a:r>
          </a:p>
          <a:p>
            <a:pPr>
              <a:spcBef>
                <a:spcPts val="100"/>
              </a:spcBef>
              <a:defRPr sz="850">
                <a:solidFill>
                  <a:srgbClr val="94A3B8"/>
                </a:solidFill>
                <a:latin typeface="Segoe UI"/>
              </a:defRPr>
            </a:pPr>
            <a:r>
              <a:t>Pre-emptive mitigation of solar ramps &amp; evening demand peaks through calibrated forecast bounds; eliminates blind tripping.</a:t>
            </a:r>
          </a:p>
          <a:p>
            <a:pPr>
              <a:spcBef>
                <a:spcPts val="700"/>
              </a:spcBef>
              <a:defRPr sz="950" b="1">
                <a:solidFill>
                  <a:srgbClr val="F8FAFC"/>
                </a:solidFill>
                <a:latin typeface="Segoe UI"/>
              </a:defRPr>
            </a:pPr>
            <a:r>
              <a:t>◆ DISCOM Financial Integrity</a:t>
            </a:r>
          </a:p>
          <a:p>
            <a:pPr>
              <a:spcBef>
                <a:spcPts val="100"/>
              </a:spcBef>
              <a:defRPr sz="850">
                <a:solidFill>
                  <a:srgbClr val="94A3B8"/>
                </a:solidFill>
                <a:latin typeface="Segoe UI"/>
              </a:defRPr>
            </a:pPr>
            <a:r>
              <a:t>Separating statistical proxies from physical flexibility prevents costly DSM deviation penalties and battery degradation.</a:t>
            </a:r>
          </a:p>
          <a:p>
            <a:pPr>
              <a:spcBef>
                <a:spcPts val="700"/>
              </a:spcBef>
              <a:defRPr sz="950" b="1">
                <a:solidFill>
                  <a:srgbClr val="F8FAFC"/>
                </a:solidFill>
                <a:latin typeface="Segoe UI"/>
              </a:defRPr>
            </a:pPr>
            <a:r>
              <a:t>◆ Operational Safety &amp; Assurance</a:t>
            </a:r>
          </a:p>
          <a:p>
            <a:pPr>
              <a:spcBef>
                <a:spcPts val="100"/>
              </a:spcBef>
              <a:defRPr sz="850">
                <a:solidFill>
                  <a:srgbClr val="94A3B8"/>
                </a:solidFill>
                <a:latin typeface="Segoe UI"/>
              </a:defRPr>
            </a:pPr>
            <a:r>
              <a:t>Adversarial stress-testing ensures zero unverified autonomous dispatch commands reach critical distribution assets.</a:t>
            </a:r>
          </a:p>
          <a:p>
            <a:pPr>
              <a:spcBef>
                <a:spcPts val="700"/>
              </a:spcBef>
              <a:defRPr sz="950" b="1">
                <a:solidFill>
                  <a:srgbClr val="F8FAFC"/>
                </a:solidFill>
                <a:latin typeface="Segoe UI"/>
              </a:defRPr>
            </a:pPr>
            <a:r>
              <a:t>◆ Physics-Grounded Optimization</a:t>
            </a:r>
          </a:p>
          <a:p>
            <a:pPr>
              <a:spcBef>
                <a:spcPts val="100"/>
              </a:spcBef>
              <a:defRPr sz="850">
                <a:solidFill>
                  <a:srgbClr val="94A3B8"/>
                </a:solidFill>
                <a:latin typeface="Segoe UI"/>
              </a:defRPr>
            </a:pPr>
            <a:r>
              <a:t>Incorporating explicit 3.22% technical losses guarantees power balance closure across feeder nodes.</a:t>
            </a:r>
          </a:p>
          <a:p>
            <a:pPr>
              <a:spcBef>
                <a:spcPts val="700"/>
              </a:spcBef>
              <a:defRPr sz="950" b="1">
                <a:solidFill>
                  <a:srgbClr val="F8FAFC"/>
                </a:solidFill>
                <a:latin typeface="Segoe UI"/>
              </a:defRPr>
            </a:pPr>
            <a:r>
              <a:t>◆ Outcome-Aware MLOps</a:t>
            </a:r>
          </a:p>
          <a:p>
            <a:pPr>
              <a:spcBef>
                <a:spcPts val="100"/>
              </a:spcBef>
              <a:defRPr sz="850">
                <a:solidFill>
                  <a:srgbClr val="94A3B8"/>
                </a:solidFill>
                <a:latin typeface="Segoe UI"/>
              </a:defRPr>
            </a:pPr>
            <a:r>
              <a:t>Model degradation is evaluated by physical consequence (voltage violations, line stress) rather than offline validation loss.</a:t>
            </a:r>
          </a:p>
        </p:txBody>
      </p:sp>
      <p:sp>
        <p:nvSpPr>
          <p:cNvPr id="13" name="Rounded Rectangle 12"/>
          <p:cNvSpPr/>
          <p:nvPr/>
        </p:nvSpPr>
        <p:spPr>
          <a:xfrm>
            <a:off x="6035040" y="1691640"/>
            <a:ext cx="5425135"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810512"/>
            <a:ext cx="5059375" cy="4297680"/>
          </a:xfrm>
          <a:prstGeom prst="rect">
            <a:avLst/>
          </a:prstGeom>
          <a:noFill/>
        </p:spPr>
        <p:txBody>
          <a:bodyPr wrap="square">
            <a:spAutoFit/>
          </a:bodyPr>
          <a:lstStyle/>
          <a:p>
            <a:pPr>
              <a:defRPr sz="900" b="1">
                <a:solidFill>
                  <a:srgbClr val="00E5FF"/>
                </a:solidFill>
                <a:latin typeface="Consolas"/>
              </a:defRPr>
            </a:pPr>
            <a:r>
              <a:t>PHASED IMPLEMENTATION ROADMAP</a:t>
            </a:r>
          </a:p>
          <a:p>
            <a:pPr>
              <a:spcBef>
                <a:spcPts val="700"/>
              </a:spcBef>
              <a:defRPr sz="919" b="1">
                <a:solidFill>
                  <a:srgbClr val="00D382"/>
                </a:solidFill>
                <a:latin typeface="Segoe UI"/>
              </a:defRPr>
            </a:pPr>
            <a:r>
              <a:t>PHASE I: PROVEN FOUNDATION  [NOW (COMPLETE)]</a:t>
            </a:r>
          </a:p>
          <a:p>
            <a:pPr>
              <a:spcBef>
                <a:spcPts val="200"/>
              </a:spcBef>
              <a:defRPr sz="800">
                <a:solidFill>
                  <a:srgbClr val="94A3B8"/>
                </a:solidFill>
                <a:latin typeface="Segoe UI"/>
              </a:defRPr>
            </a:pPr>
            <a:r>
              <a:t>• SMART-DS v1.0 data ingestion &amp; reality validation (5,196 nodes)</a:t>
            </a:r>
            <a:br/>
            <a:r>
              <a:t>• Heterogeneous multi-expert forecasting ensemble</a:t>
            </a:r>
            <a:br/>
            <a:r>
              <a:t>• Calibrated split-conformal uncertainty intervals (89.7% cov)</a:t>
            </a:r>
            <a:br/>
            <a:r>
              <a:t>• Flexibility capability audit &amp; Phase 10 feature ablation</a:t>
            </a:r>
          </a:p>
          <a:p>
            <a:pPr>
              <a:spcBef>
                <a:spcPts val="700"/>
              </a:spcBef>
              <a:defRPr sz="919" b="1">
                <a:solidFill>
                  <a:srgbClr val="F59E0B"/>
                </a:solidFill>
                <a:latin typeface="Segoe UI"/>
              </a:defRPr>
            </a:pPr>
            <a:r>
              <a:t>PHASE II: DECISION &amp; VERIFICATION  [Q1-Q2 2026 (NEXT)]</a:t>
            </a:r>
          </a:p>
          <a:p>
            <a:pPr>
              <a:spcBef>
                <a:spcPts val="200"/>
              </a:spcBef>
              <a:defRPr sz="800">
                <a:solidFill>
                  <a:srgbClr val="94A3B8"/>
                </a:solidFill>
                <a:latin typeface="Segoe UI"/>
              </a:defRPr>
            </a:pPr>
            <a:r>
              <a:t>• Pyomo/MPC constrained candidate action optimizer (Phase 10)</a:t>
            </a:r>
            <a:br/>
            <a:r>
              <a:t>• OpenDSS digital twin power-flow integration (Phase 11)</a:t>
            </a:r>
            <a:br/>
            <a:r>
              <a:t>• Adversarial Red-Team scenario attack engine (Phase 12)</a:t>
            </a:r>
            <a:br/>
            <a:r>
              <a:t>• Decision assurance scoring gate with operator console (Phase 13)</a:t>
            </a:r>
          </a:p>
          <a:p>
            <a:pPr>
              <a:spcBef>
                <a:spcPts val="700"/>
              </a:spcBef>
              <a:defRPr sz="919" b="1">
                <a:solidFill>
                  <a:srgbClr val="38BDF8"/>
                </a:solidFill>
                <a:latin typeface="Segoe UI"/>
              </a:defRPr>
            </a:pPr>
            <a:r>
              <a:t>PHASE III: INDUSTRIAL SCALING  [Q3-Q4 2026 (ROADMAP)]</a:t>
            </a:r>
          </a:p>
          <a:p>
            <a:pPr>
              <a:spcBef>
                <a:spcPts val="200"/>
              </a:spcBef>
              <a:defRPr sz="800">
                <a:solidFill>
                  <a:srgbClr val="94A3B8"/>
                </a:solidFill>
                <a:latin typeface="Segoe UI"/>
              </a:defRPr>
            </a:pPr>
            <a:r>
              <a:t>• Schneider Electric EcoStruxure ADMS / DERMS API bridge</a:t>
            </a:r>
            <a:br/>
            <a:r>
              <a:t>• Hardware-in-the-loop (HIL) microgrid testbed integration</a:t>
            </a:r>
            <a:br/>
            <a:r>
              <a:t>• Real-world DISCOM pilot deployment with adaptive autonomy</a:t>
            </a:r>
            <a:br/>
            <a:r>
              <a:t>• Outcome-aware MLOps agent orchestration with automated drift recovery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5486400" cy="292608"/>
          </a:xfrm>
          <a:prstGeom prst="rect">
            <a:avLst/>
          </a:prstGeom>
          <a:noFill/>
        </p:spPr>
        <p:txBody>
          <a:bodyPr wrap="square" lIns="0" rIns="0" tIns="0" bIns="0">
            <a:spAutoFit/>
          </a:bodyPr>
          <a:lstStyle/>
          <a:p>
            <a:pPr>
              <a:defRPr sz="900" b="1">
                <a:solidFill>
                  <a:srgbClr val="00D382"/>
                </a:solidFill>
                <a:latin typeface="Consolas"/>
              </a:defRPr>
            </a:pPr>
            <a:r>
              <a:t>11 / TEAM &amp; CONCLUSION</a:t>
            </a:r>
          </a:p>
        </p:txBody>
      </p:sp>
      <p:sp>
        <p:nvSpPr>
          <p:cNvPr id="4" name="TextBox 3"/>
          <p:cNvSpPr txBox="1"/>
          <p:nvPr/>
        </p:nvSpPr>
        <p:spPr>
          <a:xfrm>
            <a:off x="6400800" y="329184"/>
            <a:ext cx="5059375" cy="292608"/>
          </a:xfrm>
          <a:prstGeom prst="rect">
            <a:avLst/>
          </a:prstGeom>
          <a:noFill/>
        </p:spPr>
        <p:txBody>
          <a:bodyPr wrap="square" lIns="0" rIns="0" tIns="0" bIns="0">
            <a:spAutoFit/>
          </a:bodyPr>
          <a:lstStyle/>
          <a:p>
            <a:pPr algn="r">
              <a:defRPr sz="850" b="1">
                <a:solidFill>
                  <a:srgbClr val="00E5FF"/>
                </a:solidFill>
                <a:latin typeface="Consolas"/>
              </a:defRPr>
            </a:pPr>
            <a:r>
              <a:t>YUVA YODHA ENERGY TECH 2026  ◆  SCHNEIDER ELECTRIC</a:t>
            </a:r>
          </a:p>
        </p:txBody>
      </p:sp>
      <p:sp>
        <p:nvSpPr>
          <p:cNvPr id="5" name="TextBox 4"/>
          <p:cNvSpPr txBox="1"/>
          <p:nvPr/>
        </p:nvSpPr>
        <p:spPr>
          <a:xfrm>
            <a:off x="731520" y="640080"/>
            <a:ext cx="10728655" cy="548640"/>
          </a:xfrm>
          <a:prstGeom prst="rect">
            <a:avLst/>
          </a:prstGeom>
          <a:noFill/>
        </p:spPr>
        <p:txBody>
          <a:bodyPr wrap="square" lIns="0" rIns="0" tIns="0" bIns="0">
            <a:spAutoFit/>
          </a:bodyPr>
          <a:lstStyle/>
          <a:p>
            <a:pPr>
              <a:defRPr sz="2100" b="1">
                <a:solidFill>
                  <a:srgbClr val="F8FAFC"/>
                </a:solidFill>
                <a:latin typeface="Segoe UI"/>
              </a:defRPr>
            </a:pPr>
            <a:r>
              <a:t>BUILDING THE GRID'S INTELLIGENCE LAYER.</a:t>
            </a:r>
          </a:p>
        </p:txBody>
      </p:sp>
      <p:sp>
        <p:nvSpPr>
          <p:cNvPr id="6" name="TextBox 5"/>
          <p:cNvSpPr txBox="1"/>
          <p:nvPr/>
        </p:nvSpPr>
        <p:spPr>
          <a:xfrm>
            <a:off x="731520" y="1188720"/>
            <a:ext cx="10728655" cy="365760"/>
          </a:xfrm>
          <a:prstGeom prst="rect">
            <a:avLst/>
          </a:prstGeom>
          <a:noFill/>
        </p:spPr>
        <p:txBody>
          <a:bodyPr wrap="square" lIns="0" rIns="0" tIns="0" bIns="0">
            <a:spAutoFit/>
          </a:bodyPr>
          <a:lstStyle/>
          <a:p>
            <a:pPr>
              <a:defRPr sz="1150">
                <a:solidFill>
                  <a:srgbClr val="94A3B8"/>
                </a:solidFill>
                <a:latin typeface="Segoe UI"/>
              </a:defRPr>
            </a:pPr>
            <a:r>
              <a:t>Yuva Yodha Energy Tech Hackathon 2026 — Schneider Electric.</a:t>
            </a:r>
          </a:p>
        </p:txBody>
      </p:sp>
      <p:sp>
        <p:nvSpPr>
          <p:cNvPr id="7" name="Rectangle 6"/>
          <p:cNvSpPr/>
          <p:nvPr/>
        </p:nvSpPr>
        <p:spPr>
          <a:xfrm>
            <a:off x="731520" y="6446520"/>
            <a:ext cx="10728655" cy="10972"/>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10528"/>
            <a:ext cx="4572000" cy="256032"/>
          </a:xfrm>
          <a:prstGeom prst="rect">
            <a:avLst/>
          </a:prstGeom>
          <a:noFill/>
        </p:spPr>
        <p:txBody>
          <a:bodyPr wrap="none" lIns="0" rIns="0" tIns="0" bIns="0">
            <a:spAutoFit/>
          </a:bodyPr>
          <a:lstStyle/>
          <a:p>
            <a:pPr>
              <a:defRPr sz="850">
                <a:solidFill>
                  <a:srgbClr val="64748B"/>
                </a:solidFill>
                <a:latin typeface="Consolas"/>
              </a:defRPr>
            </a:pPr>
            <a:r>
              <a:t>GRIDSENTINAL  |  Adaptive, Self-Verifying Energy Intelligence</a:t>
            </a:r>
          </a:p>
        </p:txBody>
      </p:sp>
      <p:sp>
        <p:nvSpPr>
          <p:cNvPr id="9" name="TextBox 8"/>
          <p:cNvSpPr txBox="1"/>
          <p:nvPr/>
        </p:nvSpPr>
        <p:spPr>
          <a:xfrm>
            <a:off x="4389120" y="6510528"/>
            <a:ext cx="5029200" cy="256032"/>
          </a:xfrm>
          <a:prstGeom prst="rect">
            <a:avLst/>
          </a:prstGeom>
          <a:noFill/>
        </p:spPr>
        <p:txBody>
          <a:bodyPr wrap="none" lIns="0" rIns="0" tIns="0" bIns="0">
            <a:spAutoFit/>
          </a:bodyPr>
          <a:lstStyle/>
          <a:p>
            <a:pPr algn="ctr">
              <a:defRPr sz="850">
                <a:solidFill>
                  <a:srgbClr val="64748B"/>
                </a:solidFill>
                <a:latin typeface="Consolas"/>
              </a:defRPr>
            </a:pPr>
            <a:r>
              <a:t>Challenge: Grid Reliability  |  The Unsupervised Suspects</a:t>
            </a:r>
          </a:p>
        </p:txBody>
      </p:sp>
      <p:sp>
        <p:nvSpPr>
          <p:cNvPr id="10" name="TextBox 9"/>
          <p:cNvSpPr txBox="1"/>
          <p:nvPr/>
        </p:nvSpPr>
        <p:spPr>
          <a:xfrm>
            <a:off x="9631375" y="6510528"/>
            <a:ext cx="1828800" cy="256032"/>
          </a:xfrm>
          <a:prstGeom prst="rect">
            <a:avLst/>
          </a:prstGeom>
          <a:noFill/>
        </p:spPr>
        <p:txBody>
          <a:bodyPr wrap="none" lIns="0" rIns="0" tIns="0" bIns="0">
            <a:spAutoFit/>
          </a:bodyPr>
          <a:lstStyle/>
          <a:p>
            <a:pPr algn="r">
              <a:defRPr sz="850" b="1">
                <a:solidFill>
                  <a:srgbClr val="00D382"/>
                </a:solidFill>
                <a:latin typeface="Consolas"/>
              </a:defRPr>
            </a:pPr>
            <a:r>
              <a:t>‹ 11 / 11 ›</a:t>
            </a:r>
          </a:p>
        </p:txBody>
      </p:sp>
      <p:sp>
        <p:nvSpPr>
          <p:cNvPr id="11" name="Rounded Rectangle 10"/>
          <p:cNvSpPr/>
          <p:nvPr/>
        </p:nvSpPr>
        <p:spPr>
          <a:xfrm>
            <a:off x="731520" y="1691640"/>
            <a:ext cx="5120640"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eam_logo_light.png"/>
          <p:cNvPicPr>
            <a:picLocks noChangeAspect="1"/>
          </p:cNvPicPr>
          <p:nvPr/>
        </p:nvPicPr>
        <p:blipFill>
          <a:blip r:embed="rId2"/>
          <a:stretch>
            <a:fillRect/>
          </a:stretch>
        </p:blipFill>
        <p:spPr>
          <a:xfrm>
            <a:off x="914400" y="1874519"/>
            <a:ext cx="1188720" cy="1188720"/>
          </a:xfrm>
          <a:prstGeom prst="rect">
            <a:avLst/>
          </a:prstGeom>
        </p:spPr>
      </p:pic>
      <p:sp>
        <p:nvSpPr>
          <p:cNvPr id="13" name="TextBox 12"/>
          <p:cNvSpPr txBox="1"/>
          <p:nvPr/>
        </p:nvSpPr>
        <p:spPr>
          <a:xfrm>
            <a:off x="2240280" y="1874519"/>
            <a:ext cx="3474720" cy="1234440"/>
          </a:xfrm>
          <a:prstGeom prst="rect">
            <a:avLst/>
          </a:prstGeom>
          <a:noFill/>
        </p:spPr>
        <p:txBody>
          <a:bodyPr wrap="square">
            <a:spAutoFit/>
          </a:bodyPr>
          <a:lstStyle/>
          <a:p>
            <a:pPr>
              <a:defRPr sz="1300" b="1">
                <a:solidFill>
                  <a:srgbClr val="F8FAFC"/>
                </a:solidFill>
                <a:latin typeface="Segoe UI"/>
              </a:defRPr>
            </a:pPr>
            <a:r>
              <a:t>THE UNSUPERVISED SUSPECTS</a:t>
            </a:r>
          </a:p>
          <a:p>
            <a:pPr>
              <a:spcBef>
                <a:spcPts val="200"/>
              </a:spcBef>
              <a:defRPr sz="850">
                <a:solidFill>
                  <a:srgbClr val="00E5FF"/>
                </a:solidFill>
                <a:latin typeface="Consolas"/>
              </a:defRPr>
            </a:pPr>
            <a:r>
              <a:t>Team Lead &amp; Developer: Pratham Kapoor</a:t>
            </a:r>
            <a:br/>
            <a:r>
              <a:t>Email: prathamkapoor027@gmail.com</a:t>
            </a:r>
          </a:p>
        </p:txBody>
      </p:sp>
      <p:sp>
        <p:nvSpPr>
          <p:cNvPr id="14" name="TextBox 13"/>
          <p:cNvSpPr txBox="1"/>
          <p:nvPr/>
        </p:nvSpPr>
        <p:spPr>
          <a:xfrm>
            <a:off x="914400" y="3154680"/>
            <a:ext cx="4754880" cy="2926080"/>
          </a:xfrm>
          <a:prstGeom prst="rect">
            <a:avLst/>
          </a:prstGeom>
          <a:noFill/>
        </p:spPr>
        <p:txBody>
          <a:bodyPr wrap="square">
            <a:spAutoFit/>
          </a:bodyPr>
          <a:lstStyle/>
          <a:p>
            <a:pPr>
              <a:defRPr sz="900" b="1">
                <a:solidFill>
                  <a:srgbClr val="00D382"/>
                </a:solidFill>
                <a:latin typeface="Consolas"/>
              </a:defRPr>
            </a:pPr>
            <a:r>
              <a:t>CORE EXPERTISE &amp; RESEARCH FOCUS:</a:t>
            </a:r>
          </a:p>
          <a:p>
            <a:pPr>
              <a:spcBef>
                <a:spcPts val="500"/>
              </a:spcBef>
              <a:defRPr sz="850">
                <a:solidFill>
                  <a:srgbClr val="94A3B8"/>
                </a:solidFill>
                <a:latin typeface="Segoe UI"/>
              </a:defRPr>
            </a:pPr>
            <a:r>
              <a:t>◆ Probabilistic Energy AI: Split-conformal prediction, quantile regression, heterogeneous ensemble modeling.</a:t>
            </a:r>
          </a:p>
          <a:p>
            <a:pPr>
              <a:spcBef>
                <a:spcPts val="500"/>
              </a:spcBef>
              <a:defRPr sz="850">
                <a:solidFill>
                  <a:srgbClr val="94A3B8"/>
                </a:solidFill>
                <a:latin typeface="Segoe UI"/>
              </a:defRPr>
            </a:pPr>
            <a:r>
              <a:t>◆ Energy Systems Modeling: OpenDSS distribution power-flow, SMART-DS v1.0 architecture, feeder loss accounting.</a:t>
            </a:r>
          </a:p>
          <a:p>
            <a:pPr>
              <a:spcBef>
                <a:spcPts val="500"/>
              </a:spcBef>
              <a:defRPr sz="850">
                <a:solidFill>
                  <a:srgbClr val="94A3B8"/>
                </a:solidFill>
                <a:latin typeface="Segoe UI"/>
              </a:defRPr>
            </a:pPr>
            <a:r>
              <a:t>◆ Adversarial Verification: Red-teaming decision pipelines, digital twin safety constraints, adaptive autonomy gates.</a:t>
            </a:r>
          </a:p>
          <a:p>
            <a:pPr>
              <a:spcBef>
                <a:spcPts val="500"/>
              </a:spcBef>
              <a:defRPr sz="850">
                <a:solidFill>
                  <a:srgbClr val="94A3B8"/>
                </a:solidFill>
                <a:latin typeface="Segoe UI"/>
              </a:defRPr>
            </a:pPr>
            <a:r>
              <a:t>◆ Enterprise MLOps: Zero-leakage data pipelines, verifiable experiment registries, automated audit traces.</a:t>
            </a:r>
          </a:p>
        </p:txBody>
      </p:sp>
      <p:sp>
        <p:nvSpPr>
          <p:cNvPr id="15" name="Rounded Rectangle 14"/>
          <p:cNvSpPr/>
          <p:nvPr/>
        </p:nvSpPr>
        <p:spPr>
          <a:xfrm>
            <a:off x="6035040" y="1691640"/>
            <a:ext cx="5425135" cy="4572000"/>
          </a:xfrm>
          <a:prstGeom prst="roundRect">
            <a:avLst/>
          </a:prstGeom>
          <a:solidFill>
            <a:srgbClr val="0D1520"/>
          </a:solidFill>
          <a:ln w="12700">
            <a:solidFill>
              <a:srgbClr val="1E2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874519"/>
            <a:ext cx="4937760" cy="4206240"/>
          </a:xfrm>
          <a:prstGeom prst="rect">
            <a:avLst/>
          </a:prstGeom>
          <a:noFill/>
        </p:spPr>
        <p:txBody>
          <a:bodyPr wrap="square">
            <a:spAutoFit/>
          </a:bodyPr>
          <a:lstStyle/>
          <a:p>
            <a:pPr>
              <a:defRPr sz="900" b="1">
                <a:solidFill>
                  <a:srgbClr val="00E5FF"/>
                </a:solidFill>
                <a:latin typeface="Consolas"/>
              </a:defRPr>
            </a:pPr>
            <a:r>
              <a:t>ENGINEERING REFERENCES &amp; STANDARDS</a:t>
            </a:r>
          </a:p>
          <a:p>
            <a:pPr>
              <a:spcBef>
                <a:spcPts val="400"/>
              </a:spcBef>
              <a:defRPr sz="819">
                <a:solidFill>
                  <a:srgbClr val="94A3B8"/>
                </a:solidFill>
                <a:latin typeface="Segoe UI"/>
              </a:defRPr>
            </a:pPr>
            <a:r>
              <a:t>• NREL SMART-DS v1.0: Synthetic Models for Advanced, Realistic, Reliable Grid Scenarios</a:t>
            </a:r>
          </a:p>
          <a:p>
            <a:pPr>
              <a:spcBef>
                <a:spcPts val="400"/>
              </a:spcBef>
              <a:defRPr sz="819">
                <a:solidFill>
                  <a:srgbClr val="94A3B8"/>
                </a:solidFill>
                <a:latin typeface="Segoe UI"/>
              </a:defRPr>
            </a:pPr>
            <a:r>
              <a:t>• IEEE 1547-2018: Standard for Interconnection and Interoperability of Distributed Energy Resources</a:t>
            </a:r>
          </a:p>
          <a:p>
            <a:pPr>
              <a:spcBef>
                <a:spcPts val="400"/>
              </a:spcBef>
              <a:defRPr sz="819">
                <a:solidFill>
                  <a:srgbClr val="94A3B8"/>
                </a:solidFill>
                <a:latin typeface="Segoe UI"/>
              </a:defRPr>
            </a:pPr>
            <a:r>
              <a:t>• Conformal Prediction: Algorithmic Learning in a Random World (Vovk, Gammerman, Shafer)</a:t>
            </a:r>
          </a:p>
          <a:p>
            <a:pPr>
              <a:spcBef>
                <a:spcPts val="400"/>
              </a:spcBef>
              <a:defRPr sz="819">
                <a:solidFill>
                  <a:srgbClr val="94A3B8"/>
                </a:solidFill>
                <a:latin typeface="Segoe UI"/>
              </a:defRPr>
            </a:pPr>
            <a:r>
              <a:t>• EPRI OpenDSS: Electric Power Research Institute Open Distribution System Simulator</a:t>
            </a:r>
          </a:p>
          <a:p>
            <a:pPr>
              <a:spcBef>
                <a:spcPts val="1200"/>
              </a:spcBef>
              <a:defRPr sz="900" b="1">
                <a:solidFill>
                  <a:srgbClr val="00D382"/>
                </a:solidFill>
                <a:latin typeface="Consolas"/>
              </a:defRPr>
            </a:pPr>
            <a:r>
              <a:t>OPEN SOURCE REPOSITORY &amp; PROVENANCE:</a:t>
            </a:r>
          </a:p>
          <a:p>
            <a:pPr>
              <a:spcBef>
                <a:spcPts val="300"/>
              </a:spcBef>
              <a:defRPr sz="880">
                <a:solidFill>
                  <a:srgbClr val="F8FAFC"/>
                </a:solidFill>
                <a:latin typeface="Consolas"/>
              </a:defRPr>
            </a:pPr>
            <a:r>
              <a:t>GitHub: https://github.com/PrathamKapoor/GridSentinal</a:t>
            </a:r>
          </a:p>
          <a:p>
            <a:pPr>
              <a:spcBef>
                <a:spcPts val="1800"/>
              </a:spcBef>
              <a:defRPr sz="1600" b="1">
                <a:solidFill>
                  <a:srgbClr val="00E5FF"/>
                </a:solidFill>
                <a:latin typeface="Segoe UI"/>
              </a:defRPr>
            </a:pPr>
            <a:r>
              <a:t>DON'T JUST AUTOMATE THE GRID.</a:t>
            </a:r>
          </a:p>
          <a:p>
            <a:pPr>
              <a:spcBef>
                <a:spcPts val="200"/>
              </a:spcBef>
              <a:defRPr sz="1800" b="1">
                <a:solidFill>
                  <a:srgbClr val="00D382"/>
                </a:solidFill>
                <a:latin typeface="Segoe UI"/>
              </a:defRPr>
            </a:pPr>
            <a:r>
              <a:t>MAKE IT THINK BEFORE IT 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